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797fa779c4757" /><Relationship Type="http://schemas.openxmlformats.org/officeDocument/2006/relationships/extended-properties" Target="/docProps/app.xml" Id="R6befe4162a34441f" /><Relationship Type="http://schemas.openxmlformats.org/officeDocument/2006/relationships/officeDocument" Target="/ppt/presentation.xml" Id="Rd268e6c20a4a41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07bc58c09e49e4"/>
  </p:sldMasterIdLst>
  <p:notesMasterIdLst>
    <p:notesMasterId xmlns:r="http://schemas.openxmlformats.org/officeDocument/2006/relationships" r:id="R70de38b6c42e4789"/>
  </p:notesMasterIdLst>
  <p:sldIdLst>
    <p:sldId xmlns:r="http://schemas.openxmlformats.org/officeDocument/2006/relationships" id="256" r:id="R2ca0e899ac66492c"/>
    <p:sldId xmlns:r="http://schemas.openxmlformats.org/officeDocument/2006/relationships" id="257" r:id="R5a5e421ea1f148ce"/>
    <p:sldId xmlns:r="http://schemas.openxmlformats.org/officeDocument/2006/relationships" id="258" r:id="Recf6a212db1d49d9"/>
    <p:sldId xmlns:r="http://schemas.openxmlformats.org/officeDocument/2006/relationships" id="259" r:id="R4d06c277f1d04850"/>
    <p:sldId xmlns:r="http://schemas.openxmlformats.org/officeDocument/2006/relationships" id="260" r:id="R8838b885f9b74d41"/>
    <p:sldId xmlns:r="http://schemas.openxmlformats.org/officeDocument/2006/relationships" id="261" r:id="R8b87871d55a444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460bc7c394a0c" /><Relationship Type="http://schemas.openxmlformats.org/officeDocument/2006/relationships/slideMaster" Target="/ppt/slideMasters/slideMaster1.xml" Id="R8b07bc58c09e49e4" /><Relationship Type="http://schemas.openxmlformats.org/officeDocument/2006/relationships/notesMaster" Target="/ppt/notesMasters/notesMaster1.xml" Id="R70de38b6c42e4789" /><Relationship Type="http://schemas.openxmlformats.org/officeDocument/2006/relationships/presProps" Target="/ppt/presProps.xml" Id="Reac2a8bb3965467a" /><Relationship Type="http://schemas.openxmlformats.org/officeDocument/2006/relationships/tableStyles" Target="/ppt/tableStyles.xml" Id="Rc64eeb3c4d40467f" /><Relationship Type="http://schemas.openxmlformats.org/officeDocument/2006/relationships/slide" Target="/ppt/slides/slide1.xml" Id="R2ca0e899ac66492c" /><Relationship Type="http://schemas.openxmlformats.org/officeDocument/2006/relationships/slide" Target="/ppt/slides/slide2.xml" Id="R5a5e421ea1f148ce" /><Relationship Type="http://schemas.openxmlformats.org/officeDocument/2006/relationships/slide" Target="/ppt/slides/slide3.xml" Id="Recf6a212db1d49d9" /><Relationship Type="http://schemas.openxmlformats.org/officeDocument/2006/relationships/slide" Target="/ppt/slides/slide4.xml" Id="R4d06c277f1d04850" /><Relationship Type="http://schemas.openxmlformats.org/officeDocument/2006/relationships/slide" Target="/ppt/slides/slide5.xml" Id="R8838b885f9b74d41" /><Relationship Type="http://schemas.openxmlformats.org/officeDocument/2006/relationships/slide" Target="/ppt/slides/slide6.xml" Id="R8b87871d55a4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3515347244b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1b24b3043483e" /><Relationship Type="http://schemas.openxmlformats.org/officeDocument/2006/relationships/notesMaster" Target="/ppt/notesMasters/notesMaster1.xml" Id="R0151b0b3a6a646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251a588c4a4c4d" /><Relationship Type="http://schemas.openxmlformats.org/officeDocument/2006/relationships/notesMaster" Target="/ppt/notesMasters/notesMaster1.xml" Id="R74420b8b62d946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69724fb405496f" /><Relationship Type="http://schemas.openxmlformats.org/officeDocument/2006/relationships/notesMaster" Target="/ppt/notesMasters/notesMaster1.xml" Id="R5c79f99f58c042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defa9de9642ee" /><Relationship Type="http://schemas.openxmlformats.org/officeDocument/2006/relationships/notesMaster" Target="/ppt/notesMasters/notesMaster1.xml" Id="R827537e7c8df4b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85236b4dda4ba0" /><Relationship Type="http://schemas.openxmlformats.org/officeDocument/2006/relationships/notesMaster" Target="/ppt/notesMasters/notesMaster1.xml" Id="R18c420b83705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1c16d23fcf4b7e" /><Relationship Type="http://schemas.openxmlformats.org/officeDocument/2006/relationships/notesMaster" Target="/ppt/notesMasters/notesMaster1.xml" Id="R9f989686f01f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Produktpositionierung, keine Zusage einer abgeschlossenen Markteinführung. Quelle: docs/SILVIA-SPEZIFIKATION.md.</a:t>
            </a:r>
          </a:p>
          <a:p xmlns:a="http://schemas.openxmlformats.org/drawingml/2006/main">
            <a:r>
              <a:t>Stand: 14. September 2026. Zielgruppe: Gespräch mit Ordinationsleitungen und Pilotpartnern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Nutzenhypothese, keine gemessene Zeitersparnis oder zugesicherte Erreichbarkeit. Quelle: docs/SILVIA-SPEZIFIKATION.md.</a:t>
            </a:r>
          </a:p>
          <a:p xmlns:a="http://schemas.openxmlformats.org/drawingml/2006/main">
            <a:r>
              <a:t>Stand: 14. September 2026. Zielgruppe: Gespräch mit Ordinationsleitungen und Pilotpartnern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Lokale Audits c60303e und c4cd596 prüfen das Speichern von Ton und Verhalten durch die Inhaberin, die unveränderte Anzeige nach Reload, die deaktivierte Kassa-Oberfläche und die serverseitige Zurückweisung eines echten savePracticeBehavior-Requests. Der Testanruf c4cd596 prüft zusätzlich den Testmodus ohne Praxistabellenänderung und einen lokalen Kontrolllauf. Stimmabnahme, echte Hardware und österreichischer Akzent bleiben offen. Quelle: docs/SILVIA-SPEZIFIKATION.md.</a:t>
            </a:r>
          </a:p>
          <a:p xmlns:a="http://schemas.openxmlformats.org/drawingml/2006/main">
            <a:r>
              <a:t>Stand: 14. September 2026. Zielgruppe: Gespräch mit Ordinationsleitungen und Pilotpartnern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Premium verwendet eine lokale Gesprächskette. Lokale Browserprüfungen decken Auflegen, Unterbrechung, verspätete Antworten und den Abbruch vorgeladener Sprachstücke ab. Der getrennte Start `npm run live:sandbox -- --confirm-synthetic` erzwingt RAM-Daten, eine leere Datenbank und den lokalen Host. Er ruft OpenAI erst nach einer zweiten sichtbaren Browserbestätigung auf. Ein echter Provider- oder Hörtest mit gpt-live-1 und Marin fand noch nicht statt. Preise, Antwortzeit und Produktionsfreigabe sind offen. Quellen: docs/SILVIA-SPEZIFIKATION.md, docs/SILVIA_LIVE_DEMO.md, docs/PRODUKTIONSREIFE.md.</a:t>
            </a:r>
          </a:p>
          <a:p xmlns:a="http://schemas.openxmlformats.org/drawingml/2006/main">
            <a:r>
              <a:t>Stand: 14. September 2026. Zielgruppe: Gespräch mit Ordinationsleitungen und Pilotpartnern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verbindliche Vorgabe untersagt, echte Praxisdaten an externe KI-Dienste zu geben. Die normale Modelllaufzeit blockiert externe Chat-, STT- und TTS-Ziele sowie Proxys vor dem Versand. Der lokale, lesende Vquadrat-Pfad wurde gegen eine getrennte Testkopie geprüft: 11 von 11 erwarteten Tabellen und Spalten, Schreibflags 0, readOnly true und keine Termin-Schreibrechte. Datenfluss, Anbieteraufbewahrung und Rechtsabnahme bleiben offen. Quellen: docs/SILVIA-SPEZIFIKATION.md, docs/PRODUKTIONSREIFE.md.</a:t>
            </a:r>
          </a:p>
          <a:p xmlns:a="http://schemas.openxmlformats.org/drawingml/2006/main">
            <a:r>
              <a:t>Stand: 14. September 2026. Zielgruppe: Gespräch mit Ordinationsleitungen und Pilotpartnern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lokale Vquadrat-Testkopie lief über Connector und flüchtige Silvia-Bridge ohne Schreibaufruf. Eine menschliche Oberflächen- und Feldfreigabe, Terminabläufe sowie eine externe PMS-Freigabe bleiben offen. Auch reale Mikrofon- und Akzenttests, Gesprächsqualität und Antwortzeit stehen aus. Der echte Cloud-Live-Test benötigt eine gesonderte Kostenfreigabe und ausschließlich erfundene Eingaben. GitHub Actions konnte die aktuellen Cloud-Prüfungen wegen eines Konto-Zahlungs- oder Ausgabenlimits nicht starten; die lokalen Nachweise bleiben davon getrennt. Quellen: docs/SILVIA-SPEZIFIKATION.md, docs/PRODUKTIONSREIFE.md.</a:t>
            </a:r>
          </a:p>
          <a:p xmlns:a="http://schemas.openxmlformats.org/drawingml/2006/main">
            <a:r>
              <a:t>Stand: 14. September 2026. Zielgruppe: Gespräch mit Ordinationsleitungen und Pilotpartnern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1b5cab25e4b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175a38127c4d42" /><Relationship Type="http://schemas.openxmlformats.org/officeDocument/2006/relationships/slideLayout" Target="/ppt/slideLayouts/slideLayout1.xml" Id="R1a2a2a545e55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a2a545e55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b578502ed4030" /><Relationship Type="http://schemas.openxmlformats.org/officeDocument/2006/relationships/notesSlide" Target="/ppt/notesSlides/notesSlide1.xml" Id="R17a4f2d2a5274b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cc2abf06e46dc" /><Relationship Type="http://schemas.openxmlformats.org/officeDocument/2006/relationships/notesSlide" Target="/ppt/notesSlides/notesSlide2.xml" Id="R63e4a2ed7ffa45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5afcd0f6a411a" /><Relationship Type="http://schemas.openxmlformats.org/officeDocument/2006/relationships/notesSlide" Target="/ppt/notesSlides/notesSlide3.xml" Id="Reaf1b0dfb33846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99a0d19654b12" /><Relationship Type="http://schemas.openxmlformats.org/officeDocument/2006/relationships/notesSlide" Target="/ppt/notesSlides/notesSlide4.xml" Id="R27d970b1e8754a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bde0ca2324bf2" /><Relationship Type="http://schemas.openxmlformats.org/officeDocument/2006/relationships/notesSlide" Target="/ppt/notesSlides/notesSlide5.xml" Id="Rb944343bdb0f47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4d61d3f0c48de" /><Relationship Type="http://schemas.openxmlformats.org/officeDocument/2006/relationships/notesSlide" Target="/ppt/notesSlides/notesSlide6.xml" Id="Ra8262a5c35c348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4787C-1411-4079-B534-387E7AB6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Silvia.</a:t>
            </a:r>
          </a:p>
          <a:p xmlns:a="http://schemas.openxmlformats.org/drawingml/2006/main">
            <a:pPr>
              <a:defRPr sz="465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Ein herzliches Grüß Gott</a:t>
            </a:r>
          </a:p>
          <a:p xmlns:a="http://schemas.openxmlformats.org/drawingml/2006/main">
            <a:pPr>
              <a:defRPr sz="465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für Ihre Ordination.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1658-66A9-4EBC-AB26-75E60F2C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1E8"/>
                </a:solidFill>
                <a:latin typeface="Arial"/>
                <a:ea typeface="Arial"/>
                <a:cs typeface="Arial"/>
              </a:rPr>
              <a:t>Die digitale Empfangsassistentin für Tierordinationen in Österreich.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E6507-649D-4EB9-8A81-1B91A77B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7E2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2DA"/>
                </a:solidFill>
                <a:latin typeface="Arial"/>
                <a:ea typeface="Arial"/>
                <a:cs typeface="Arial"/>
              </a:rPr>
              <a:t>Produktvorstellung · Entwicklungsstand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94038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1C564-6079-4B9D-BB07-A01B6D5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A3A"/>
                </a:solidFill>
                <a:latin typeface="Arial"/>
                <a:ea typeface="Arial"/>
                <a:cs typeface="Arial"/>
              </a:rPr>
              <a:t>Mehr Aufmerksamkeit</a:t>
            </a:r>
          </a:p>
          <a:p xmlns:a="http://schemas.openxmlformats.org/drawingml/2006/main">
            <a:pPr>
              <a:defRPr sz="3600" b="1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A3A"/>
                </a:solidFill>
                <a:latin typeface="Arial"/>
                <a:ea typeface="Arial"/>
                <a:cs typeface="Arial"/>
              </a:rPr>
              <a:t>für Mensch und Tier.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E053B-0F2C-4B70-802C-D408AF5B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Während das Team vor Ort hilft, soll Silvia telefonische Anliegen freundlich aufnehmen und den nächsten Schritt vorbereiten.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0B775-E0B1-41EE-B2C2-9587A907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45E"/>
                </a:solidFill>
                <a:latin typeface="Arial"/>
                <a:ea typeface="Arial"/>
                <a:cs typeface="Arial"/>
              </a:rPr>
              <a:t>Unser Ziel: den Empfang entlasten. Die tatsächliche Entlastung wird im Pilotbetrieb gemessen.</a:t>
            </a:r>
          </a:p>
        </p:txBody>
      </p:sp>
    </p:spTree>
    <p:extLst>
      <p:ext uri="{BB962C8B-B14F-4D97-AF65-F5344CB8AC3E}">
        <p14:creationId xmlns:p14="http://schemas.microsoft.com/office/powerpoint/2010/main" val="386330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6DE17-5213-4771-AB94-4116AC36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A3A"/>
                </a:solidFill>
                <a:latin typeface="Arial"/>
                <a:ea typeface="Arial"/>
                <a:cs typeface="Arial"/>
              </a:rPr>
              <a:t>Ihre Ordination gibt den Ton 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025D0-5C4C-4510-A051-0A9939BF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Begrüßung, Öffnungszeiten und Hinweise aus dem Praxisalltag bilden die Grundlage für Silvias Antworten.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4A839-4968-4616-AC56-7A33AAA4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Warm, weiblich klingend und österreichisch. Herzlich, sympathisch und mit einem kleinen Lächeln in der Stimme.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46FFC-425F-47AD-A1A7-E4473866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45E"/>
                </a:solidFill>
                <a:latin typeface="Arial"/>
                <a:ea typeface="Arial"/>
                <a:cs typeface="Arial"/>
              </a:rPr>
              <a:t>Ton und Verhalten: Speichern und Rollenbeschränkung lokal geprüft. Stimmabnahme offen.</a:t>
            </a:r>
          </a:p>
        </p:txBody>
      </p:sp>
    </p:spTree>
    <p:extLst>
      <p:ext uri="{BB962C8B-B14F-4D97-AF65-F5344CB8AC3E}">
        <p14:creationId xmlns:p14="http://schemas.microsoft.com/office/powerpoint/2010/main" val="968527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62FC6-191C-47F9-A9B1-DAE8ACC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A3A"/>
                </a:solidFill>
                <a:latin typeface="Arial"/>
                <a:ea typeface="Arial"/>
                <a:cs typeface="Arial"/>
              </a:rPr>
              <a:t>Zwei Varianten. Ein Anspruch.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597DC-30A7-437F-A2AB-BAC1359D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Silvia Premium</a:t>
            </a:r>
          </a:p>
          <a:p xmlns:a="http://schemas.openxmlformats.org/drawingml/2006/main">
            <a:pPr>
              <a:defRPr sz="2250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Lokaler Trainingsdialog und Hörprobe.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69C77-DD1F-4B8E-BF0A-36B8E39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Silvia Live</a:t>
            </a:r>
          </a:p>
          <a:p xmlns:a="http://schemas.openxmlformats.org/drawingml/2006/main">
            <a:pPr>
              <a:defRPr sz="2175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Getrennter Hörtest mit gpt-live-1 und Marin. Nur mit erfundenen Inhalten.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0940E-FD7F-44E7-9686-BB5C89D4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45E"/>
                </a:solidFill>
                <a:latin typeface="Arial"/>
                <a:ea typeface="Arial"/>
                <a:cs typeface="Arial"/>
              </a:rPr>
              <a:t>Premium: Homepage-Audio und Bedienung lokal geprüft. Live: sicherer Teststart vorbereitet, echter Hörtest offen.</a:t>
            </a:r>
          </a:p>
        </p:txBody>
      </p:sp>
    </p:spTree>
    <p:extLst>
      <p:ext uri="{BB962C8B-B14F-4D97-AF65-F5344CB8AC3E}">
        <p14:creationId xmlns:p14="http://schemas.microsoft.com/office/powerpoint/2010/main" val="634585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3667B-4C19-497E-B6EE-EBAB1BEF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A3A"/>
                </a:solidFill>
                <a:latin typeface="Arial"/>
                <a:ea typeface="Arial"/>
                <a:cs typeface="Arial"/>
              </a:rPr>
              <a:t>Vertrauen beginnt</a:t>
            </a:r>
          </a:p>
          <a:p xmlns:a="http://schemas.openxmlformats.org/drawingml/2006/main">
            <a:pPr>
              <a:defRPr sz="3600" b="1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A3A"/>
                </a:solidFill>
                <a:latin typeface="Arial"/>
                <a:ea typeface="Arial"/>
                <a:cs typeface="Arial"/>
              </a:rPr>
              <a:t>mit klaren Grenzen.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629F8-4A96-48E2-921C-27FE35E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Verbindliche Vorgabe: Echte Praxisdaten dürfen niemals an externe KI-Dienste gelangen.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00EB9-72EB-47B9-A365-BAAAC488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F4A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A3A"/>
                </a:solidFill>
                <a:latin typeface="Arial"/>
                <a:ea typeface="Arial"/>
                <a:cs typeface="Arial"/>
              </a:rPr>
              <a:t>Die normale Gesprächskette blockiert externe Chat-, Sprach- und Proxyziele vor dem Versand. Datenfluss und Rechtsabnahme bleiben offen.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890CB-3EA8-4545-9F99-0C1A598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45E"/>
                </a:solidFill>
                <a:latin typeface="Arial"/>
                <a:ea typeface="Arial"/>
                <a:cs typeface="Arial"/>
              </a:rPr>
              <a:t>Vquadrat-Testkopie: lokal und lesend geprüft. Keine Termin-Schreibrechte.</a:t>
            </a:r>
          </a:p>
        </p:txBody>
      </p:sp>
    </p:spTree>
    <p:extLst>
      <p:ext uri="{BB962C8B-B14F-4D97-AF65-F5344CB8AC3E}">
        <p14:creationId xmlns:p14="http://schemas.microsoft.com/office/powerpoint/2010/main" val="2048622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4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AA844-96E2-4B1D-92FA-3C61F64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Nächster Schritt: gemeinsame Abnahme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EDEAA-ED80-4093-9E02-31984B18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1E8"/>
                </a:solidFill>
                <a:latin typeface="Arial"/>
                <a:ea typeface="Arial"/>
                <a:cs typeface="Arial"/>
              </a:rPr>
              <a:t>Mit erfundenen Anliegen prüfen wir Klang, Gesprächsfluss und Unterbrechen.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0E2ED-A157-4F71-879C-20A5138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1E8"/>
                </a:solidFill>
                <a:latin typeface="Arial"/>
                <a:ea typeface="Arial"/>
                <a:cs typeface="Arial"/>
              </a:rPr>
              <a:t>Silvia Live startet getrennt ohne Datenbank. Vquadrat bleibt lesend und abgekoppelt.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DE83-4A73-4166-80F6-CA91DA63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7E2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2DA"/>
                </a:solidFill>
                <a:latin typeface="Arial"/>
                <a:ea typeface="Arial"/>
                <a:cs typeface="Arial"/>
              </a:rPr>
              <a:t>Der echte Hörtest braucht eine bewusste Freigabe. Datenschutz- und Praxissoftware-Abnahme bleiben offen.</a:t>
            </a:r>
          </a:p>
        </p:txBody>
      </p:sp>
    </p:spTree>
    <p:extLst>
      <p:ext uri="{BB962C8B-B14F-4D97-AF65-F5344CB8AC3E}">
        <p14:creationId xmlns:p14="http://schemas.microsoft.com/office/powerpoint/2010/main" val="252173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2026-09-14T18:28:11.4150000Z</dcterms:created>
  <dcterms:modified xsi:type="dcterms:W3CDTF">2026-09-14T18:28:11.4150000Z</dcterms:modified>
</coreProperties>
</file>