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3D8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058400" cy="365760"/>
          </a:xfrm>
          <a:prstGeom prst="rect">
            <a:avLst/>
          </a:prstGeom>
          <a:noFill/>
        </p:spPr>
        <p:txBody>
          <a:bodyPr wrap="square">
            <a:spAutoFit/>
          </a:bodyPr>
          <a:lstStyle/>
          <a:p>
            <a:pPr algn="l"/>
            <a:r>
              <a:rPr sz="1300" b="1">
                <a:solidFill>
                  <a:srgbClr val="3D8B6E"/>
                </a:solidFill>
                <a:latin typeface="Calibri"/>
              </a:rPr>
              <a:t>INTERNES PITCH-DECK  ·  FÜR DAS TEAM</a:t>
            </a:r>
          </a:p>
        </p:txBody>
      </p:sp>
      <p:sp>
        <p:nvSpPr>
          <p:cNvPr id="6" name="TextBox 5"/>
          <p:cNvSpPr txBox="1"/>
          <p:nvPr/>
        </p:nvSpPr>
        <p:spPr>
          <a:xfrm>
            <a:off x="640080" y="1965960"/>
            <a:ext cx="10972800" cy="1280160"/>
          </a:xfrm>
          <a:prstGeom prst="rect">
            <a:avLst/>
          </a:prstGeom>
          <a:noFill/>
        </p:spPr>
        <p:txBody>
          <a:bodyPr wrap="square">
            <a:spAutoFit/>
          </a:bodyPr>
          <a:lstStyle/>
          <a:p>
            <a:pPr algn="l"/>
            <a:r>
              <a:rPr sz="4000" b="1">
                <a:solidFill>
                  <a:srgbClr val="FFFFFF"/>
                </a:solidFill>
                <a:latin typeface="Georgia"/>
              </a:rPr>
              <a:t>Silvia kennt ihre Katze
wie ihre Westentasche.</a:t>
            </a:r>
          </a:p>
        </p:txBody>
      </p:sp>
      <p:sp>
        <p:nvSpPr>
          <p:cNvPr id="7" name="TextBox 6"/>
          <p:cNvSpPr txBox="1"/>
          <p:nvPr/>
        </p:nvSpPr>
        <p:spPr>
          <a:xfrm>
            <a:off x="640080" y="4297680"/>
            <a:ext cx="10058400" cy="1005840"/>
          </a:xfrm>
          <a:prstGeom prst="rect">
            <a:avLst/>
          </a:prstGeom>
          <a:noFill/>
        </p:spPr>
        <p:txBody>
          <a:bodyPr wrap="square">
            <a:spAutoFit/>
          </a:bodyPr>
          <a:lstStyle/>
          <a:p>
            <a:pPr algn="l"/>
            <a:r>
              <a:rPr sz="1800" b="0">
                <a:solidFill>
                  <a:srgbClr val="F6F1E8"/>
                </a:solidFill>
                <a:latin typeface="Calibri"/>
              </a:rPr>
              <a:t>KI-Rezeption für österreichische Tierordinationen.
Was live ist, wo man klickt, was noch Roadmap ist.</a:t>
            </a:r>
          </a:p>
        </p:txBody>
      </p:sp>
      <p:sp>
        <p:nvSpPr>
          <p:cNvPr id="8" name="TextBox 7"/>
          <p:cNvSpPr txBox="1"/>
          <p:nvPr/>
        </p:nvSpPr>
        <p:spPr>
          <a:xfrm>
            <a:off x="640080" y="5989320"/>
            <a:ext cx="10058400" cy="365760"/>
          </a:xfrm>
          <a:prstGeom prst="rect">
            <a:avLst/>
          </a:prstGeom>
          <a:noFill/>
        </p:spPr>
        <p:txBody>
          <a:bodyPr wrap="square">
            <a:spAutoFit/>
          </a:bodyPr>
          <a:lstStyle/>
          <a:p>
            <a:pPr algn="l"/>
            <a:r>
              <a:rPr sz="1400" b="0">
                <a:solidFill>
                  <a:srgbClr val="3D8B6E"/>
                </a:solidFill>
                <a:latin typeface="Calibri"/>
              </a:rPr>
              <a:t>Gebaut in Wien  ·  alle neun Bundesländer  ·  21 Tage testen</a:t>
            </a:r>
          </a:p>
        </p:txBody>
      </p:sp>
      <p:sp>
        <p:nvSpPr>
          <p:cNvPr id="9" name="Rectangle 8"/>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1" name="TextBox 10"/>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VERSENDUNG</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Was du dem Kollegen schickst</a:t>
            </a:r>
          </a:p>
        </p:txBody>
      </p:sp>
      <p:sp>
        <p:nvSpPr>
          <p:cNvPr id="5" name="Rounded Rectangle 4"/>
          <p:cNvSpPr/>
          <p:nvPr/>
        </p:nvSpPr>
        <p:spPr>
          <a:xfrm>
            <a:off x="640080" y="1371600"/>
            <a:ext cx="10972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4173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17904"/>
            <a:ext cx="10607040" cy="365760"/>
          </a:xfrm>
          <a:prstGeom prst="rect">
            <a:avLst/>
          </a:prstGeom>
          <a:noFill/>
        </p:spPr>
        <p:txBody>
          <a:bodyPr wrap="square">
            <a:spAutoFit/>
          </a:bodyPr>
          <a:lstStyle/>
          <a:p>
            <a:pPr algn="l"/>
            <a:r>
              <a:rPr sz="2000" b="1">
                <a:solidFill>
                  <a:srgbClr val="1F4A3A"/>
                </a:solidFill>
                <a:latin typeface="Calibri"/>
              </a:rPr>
              <a:t>1  PowerPoint</a:t>
            </a:r>
          </a:p>
        </p:txBody>
      </p:sp>
      <p:sp>
        <p:nvSpPr>
          <p:cNvPr id="8" name="TextBox 7"/>
          <p:cNvSpPr txBox="1"/>
          <p:nvPr/>
        </p:nvSpPr>
        <p:spPr>
          <a:xfrm>
            <a:off x="896112" y="1847088"/>
            <a:ext cx="10607040" cy="795528"/>
          </a:xfrm>
          <a:prstGeom prst="rect">
            <a:avLst/>
          </a:prstGeom>
          <a:noFill/>
        </p:spPr>
        <p:txBody>
          <a:bodyPr wrap="square">
            <a:spAutoFit/>
          </a:bodyPr>
          <a:lstStyle/>
          <a:p>
            <a:pPr algn="l"/>
            <a:r>
              <a:rPr sz="1600" b="0">
                <a:solidFill>
                  <a:srgbClr val="1A1A1A"/>
                </a:solidFill>
                <a:latin typeface="Calibri"/>
              </a:rPr>
              <a:t>Silvia-Pitch-Kollegen.pptx – internes Deck. Live vs. Roadmap, zehn Minuten klicken.</a:t>
            </a:r>
          </a:p>
        </p:txBody>
      </p:sp>
      <p:sp>
        <p:nvSpPr>
          <p:cNvPr id="9" name="Rounded Rectangle 8"/>
          <p:cNvSpPr/>
          <p:nvPr/>
        </p:nvSpPr>
        <p:spPr>
          <a:xfrm>
            <a:off x="640080" y="2926080"/>
            <a:ext cx="10972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926080"/>
            <a:ext cx="73152" cy="14173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072384"/>
            <a:ext cx="10607040" cy="365760"/>
          </a:xfrm>
          <a:prstGeom prst="rect">
            <a:avLst/>
          </a:prstGeom>
          <a:noFill/>
        </p:spPr>
        <p:txBody>
          <a:bodyPr wrap="square">
            <a:spAutoFit/>
          </a:bodyPr>
          <a:lstStyle/>
          <a:p>
            <a:pPr algn="l"/>
            <a:r>
              <a:rPr sz="2000" b="1">
                <a:solidFill>
                  <a:srgbClr val="1F4A3A"/>
                </a:solidFill>
                <a:latin typeface="Calibri"/>
              </a:rPr>
              <a:t>2  Werbefilm</a:t>
            </a:r>
          </a:p>
        </p:txBody>
      </p:sp>
      <p:sp>
        <p:nvSpPr>
          <p:cNvPr id="12" name="TextBox 11"/>
          <p:cNvSpPr txBox="1"/>
          <p:nvPr/>
        </p:nvSpPr>
        <p:spPr>
          <a:xfrm>
            <a:off x="896112" y="3401568"/>
            <a:ext cx="10607040" cy="795528"/>
          </a:xfrm>
          <a:prstGeom prst="rect">
            <a:avLst/>
          </a:prstGeom>
          <a:noFill/>
        </p:spPr>
        <p:txBody>
          <a:bodyPr wrap="square">
            <a:spAutoFit/>
          </a:bodyPr>
          <a:lstStyle/>
          <a:p>
            <a:pPr algn="l"/>
            <a:r>
              <a:rPr sz="1600" b="0">
                <a:solidFill>
                  <a:srgbClr val="1A1A1A"/>
                </a:solidFill>
                <a:latin typeface="Calibri"/>
              </a:rPr>
              <a:t>Silvia-Werbefilm-32-Sekunden.mp4 – 32 s, 1080p, mit Ton. Steht auf der Startseite unter „Der Film“.</a:t>
            </a:r>
          </a:p>
        </p:txBody>
      </p:sp>
      <p:sp>
        <p:nvSpPr>
          <p:cNvPr id="13" name="Rounded Rectangle 12"/>
          <p:cNvSpPr/>
          <p:nvPr/>
        </p:nvSpPr>
        <p:spPr>
          <a:xfrm>
            <a:off x="640080" y="4480560"/>
            <a:ext cx="10972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480560"/>
            <a:ext cx="73152" cy="14173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626864"/>
            <a:ext cx="10607040" cy="365760"/>
          </a:xfrm>
          <a:prstGeom prst="rect">
            <a:avLst/>
          </a:prstGeom>
          <a:noFill/>
        </p:spPr>
        <p:txBody>
          <a:bodyPr wrap="square">
            <a:spAutoFit/>
          </a:bodyPr>
          <a:lstStyle/>
          <a:p>
            <a:pPr algn="l"/>
            <a:r>
              <a:rPr sz="2000" b="1">
                <a:solidFill>
                  <a:srgbClr val="1F4A3A"/>
                </a:solidFill>
                <a:latin typeface="Calibri"/>
              </a:rPr>
              <a:t>3  Demo</a:t>
            </a:r>
          </a:p>
        </p:txBody>
      </p:sp>
      <p:sp>
        <p:nvSpPr>
          <p:cNvPr id="16" name="TextBox 15"/>
          <p:cNvSpPr txBox="1"/>
          <p:nvPr/>
        </p:nvSpPr>
        <p:spPr>
          <a:xfrm>
            <a:off x="896112" y="4956048"/>
            <a:ext cx="10607040" cy="795528"/>
          </a:xfrm>
          <a:prstGeom prst="rect">
            <a:avLst/>
          </a:prstGeom>
          <a:noFill/>
        </p:spPr>
        <p:txBody>
          <a:bodyPr wrap="square">
            <a:spAutoFit/>
          </a:bodyPr>
          <a:lstStyle/>
          <a:p>
            <a:pPr algn="l"/>
            <a:r>
              <a:rPr sz="1600" b="0">
                <a:solidFill>
                  <a:srgbClr val="1A1A1A"/>
                </a:solidFill>
                <a:latin typeface="Calibri"/>
              </a:rPr>
              <a:t>Silvia-Demo-Startseite-und-Film.mp4 – Homepage, Telefon Huber, Produktfilm im Browser.</a:t>
            </a:r>
          </a:p>
        </p:txBody>
      </p:sp>
      <p:sp>
        <p:nvSpPr>
          <p:cNvPr id="17" name="Rectangle 16"/>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9" name="TextBox 18"/>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IN EINER MINUTE</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Was Silvia ist – und was nicht</a:t>
            </a:r>
          </a:p>
        </p:txBody>
      </p:sp>
      <p:sp>
        <p:nvSpPr>
          <p:cNvPr id="5" name="Rounded Rectangle 4"/>
          <p:cNvSpPr/>
          <p:nvPr/>
        </p:nvSpPr>
        <p:spPr>
          <a:xfrm>
            <a:off x="640080" y="1417320"/>
            <a:ext cx="53035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429768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63624"/>
            <a:ext cx="4937760" cy="365760"/>
          </a:xfrm>
          <a:prstGeom prst="rect">
            <a:avLst/>
          </a:prstGeom>
          <a:noFill/>
        </p:spPr>
        <p:txBody>
          <a:bodyPr wrap="square">
            <a:spAutoFit/>
          </a:bodyPr>
          <a:lstStyle/>
          <a:p>
            <a:pPr algn="l"/>
            <a:r>
              <a:rPr sz="1800" b="1">
                <a:solidFill>
                  <a:srgbClr val="1F4A3A"/>
                </a:solidFill>
                <a:latin typeface="Calibri"/>
              </a:rPr>
              <a:t>Rezeptionistin am Apparat</a:t>
            </a:r>
          </a:p>
        </p:txBody>
      </p:sp>
      <p:sp>
        <p:nvSpPr>
          <p:cNvPr id="8" name="TextBox 7"/>
          <p:cNvSpPr txBox="1"/>
          <p:nvPr/>
        </p:nvSpPr>
        <p:spPr>
          <a:xfrm>
            <a:off x="896112" y="1892808"/>
            <a:ext cx="4937760" cy="3675888"/>
          </a:xfrm>
          <a:prstGeom prst="rect">
            <a:avLst/>
          </a:prstGeom>
          <a:noFill/>
        </p:spPr>
        <p:txBody>
          <a:bodyPr wrap="square">
            <a:spAutoFit/>
          </a:bodyPr>
          <a:lstStyle/>
          <a:p>
            <a:pPr algn="l"/>
            <a:r>
              <a:rPr sz="1500" b="0">
                <a:solidFill>
                  <a:srgbClr val="1A1A1A"/>
                </a:solidFill>
                <a:latin typeface="Calibri"/>
              </a:rPr>
              <a:t>Silvia nimmt Anrufe an, spricht österreichisches Deutsch (Grüß Gott, Jänner, Ordination, Nachtdienst), legt Termine in hinterlegten Zeiten, triagiert Notfälle und schreibt ein Protokoll an die Frau Doktor.
Sie kennt die Ordination: Adresse, Öffnungszeiten, Nachtdienst, WhatsApp, E-Mail – und was man ihr am Telefon beigebracht hat.</a:t>
            </a:r>
          </a:p>
        </p:txBody>
      </p:sp>
      <p:sp>
        <p:nvSpPr>
          <p:cNvPr id="9" name="Rounded Rectangle 8"/>
          <p:cNvSpPr/>
          <p:nvPr/>
        </p:nvSpPr>
        <p:spPr>
          <a:xfrm>
            <a:off x="6263640" y="1417320"/>
            <a:ext cx="530352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417320"/>
            <a:ext cx="73152" cy="429768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63624"/>
            <a:ext cx="4937760" cy="365760"/>
          </a:xfrm>
          <a:prstGeom prst="rect">
            <a:avLst/>
          </a:prstGeom>
          <a:noFill/>
        </p:spPr>
        <p:txBody>
          <a:bodyPr wrap="square">
            <a:spAutoFit/>
          </a:bodyPr>
          <a:lstStyle/>
          <a:p>
            <a:pPr algn="l"/>
            <a:r>
              <a:rPr sz="1800" b="1">
                <a:solidFill>
                  <a:srgbClr val="1F4A3A"/>
                </a:solidFill>
                <a:latin typeface="Calibri"/>
              </a:rPr>
              <a:t>Keine tierärztliche Beratung</a:t>
            </a:r>
          </a:p>
        </p:txBody>
      </p:sp>
      <p:sp>
        <p:nvSpPr>
          <p:cNvPr id="12" name="TextBox 11"/>
          <p:cNvSpPr txBox="1"/>
          <p:nvPr/>
        </p:nvSpPr>
        <p:spPr>
          <a:xfrm>
            <a:off x="6519672" y="1892808"/>
            <a:ext cx="4937760" cy="3675888"/>
          </a:xfrm>
          <a:prstGeom prst="rect">
            <a:avLst/>
          </a:prstGeom>
          <a:noFill/>
        </p:spPr>
        <p:txBody>
          <a:bodyPr wrap="square">
            <a:spAutoFit/>
          </a:bodyPr>
          <a:lstStyle/>
          <a:p>
            <a:pPr algn="l"/>
            <a:r>
              <a:rPr sz="1500" b="0">
                <a:solidFill>
                  <a:srgbClr val="1A1A1A"/>
                </a:solidFill>
                <a:latin typeface="Calibri"/>
              </a:rPr>
              <a:t>Keine Diagnose, kein Rezept, keine Medikamente, keine amtliche Meldung (Heimtierdatenbank, Hundeabgabe).
Das bleibt bei der Kammer und bei der Ordination. Silvia ist Software für die Kassa – nicht für den Behandlungsraum.</a:t>
            </a:r>
          </a:p>
        </p:txBody>
      </p:sp>
      <p:sp>
        <p:nvSpPr>
          <p:cNvPr id="13" name="Rectangle 1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5" name="TextBox 1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DAS LOCH</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In Österreich geht das Telefon oft ins Leere</a:t>
            </a:r>
          </a:p>
        </p:txBody>
      </p:sp>
      <p:sp>
        <p:nvSpPr>
          <p:cNvPr id="5" name="Rounded Rectangle 4"/>
          <p:cNvSpPr/>
          <p:nvPr/>
        </p:nvSpPr>
        <p:spPr>
          <a:xfrm>
            <a:off x="640080" y="1417320"/>
            <a:ext cx="53035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965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63624"/>
            <a:ext cx="4937760" cy="365760"/>
          </a:xfrm>
          <a:prstGeom prst="rect">
            <a:avLst/>
          </a:prstGeom>
          <a:noFill/>
        </p:spPr>
        <p:txBody>
          <a:bodyPr wrap="square">
            <a:spAutoFit/>
          </a:bodyPr>
          <a:lstStyle/>
          <a:p>
            <a:pPr algn="l"/>
            <a:r>
              <a:rPr sz="1600" b="1">
                <a:solidFill>
                  <a:srgbClr val="1F4A3A"/>
                </a:solidFill>
                <a:latin typeface="Calibri"/>
              </a:rPr>
              <a:t>Verpasste Anrufe</a:t>
            </a:r>
          </a:p>
        </p:txBody>
      </p:sp>
      <p:sp>
        <p:nvSpPr>
          <p:cNvPr id="8" name="TextBox 7"/>
          <p:cNvSpPr txBox="1"/>
          <p:nvPr/>
        </p:nvSpPr>
        <p:spPr>
          <a:xfrm>
            <a:off x="896112" y="1892808"/>
            <a:ext cx="4937760" cy="1344168"/>
          </a:xfrm>
          <a:prstGeom prst="rect">
            <a:avLst/>
          </a:prstGeom>
          <a:noFill/>
        </p:spPr>
        <p:txBody>
          <a:bodyPr wrap="square">
            <a:spAutoFit/>
          </a:bodyPr>
          <a:lstStyle/>
          <a:p>
            <a:pPr algn="l"/>
            <a:r>
              <a:rPr sz="1300" b="0">
                <a:solidFill>
                  <a:srgbClr val="1A1A1A"/>
                </a:solidFill>
                <a:latin typeface="Calibri"/>
              </a:rPr>
              <a:t>Mittagssperre, OP, Hausbesuch – die 1-Stern-Bewertung heißt oft: niemand geht ans Telefon.</a:t>
            </a:r>
          </a:p>
        </p:txBody>
      </p:sp>
      <p:sp>
        <p:nvSpPr>
          <p:cNvPr id="9" name="Rounded Rectangle 8"/>
          <p:cNvSpPr/>
          <p:nvPr/>
        </p:nvSpPr>
        <p:spPr>
          <a:xfrm>
            <a:off x="6172200" y="1417320"/>
            <a:ext cx="53035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417320"/>
            <a:ext cx="73152" cy="1965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563624"/>
            <a:ext cx="4937760" cy="365760"/>
          </a:xfrm>
          <a:prstGeom prst="rect">
            <a:avLst/>
          </a:prstGeom>
          <a:noFill/>
        </p:spPr>
        <p:txBody>
          <a:bodyPr wrap="square">
            <a:spAutoFit/>
          </a:bodyPr>
          <a:lstStyle/>
          <a:p>
            <a:pPr algn="l"/>
            <a:r>
              <a:rPr sz="1600" b="1">
                <a:solidFill>
                  <a:srgbClr val="1F4A3A"/>
                </a:solidFill>
                <a:latin typeface="Calibri"/>
              </a:rPr>
              <a:t>WhatsApp ungelesen</a:t>
            </a:r>
          </a:p>
        </p:txBody>
      </p:sp>
      <p:sp>
        <p:nvSpPr>
          <p:cNvPr id="12" name="TextBox 11"/>
          <p:cNvSpPr txBox="1"/>
          <p:nvPr/>
        </p:nvSpPr>
        <p:spPr>
          <a:xfrm>
            <a:off x="6428232" y="1892808"/>
            <a:ext cx="4937760" cy="1344168"/>
          </a:xfrm>
          <a:prstGeom prst="rect">
            <a:avLst/>
          </a:prstGeom>
          <a:noFill/>
        </p:spPr>
        <p:txBody>
          <a:bodyPr wrap="square">
            <a:spAutoFit/>
          </a:bodyPr>
          <a:lstStyle/>
          <a:p>
            <a:pPr algn="l"/>
            <a:r>
              <a:rPr sz="1300" b="0">
                <a:solidFill>
                  <a:srgbClr val="1A1A1A"/>
                </a:solidFill>
                <a:latin typeface="Calibri"/>
              </a:rPr>
              <a:t>Klientel schreibt. Die Kassa kann nicht mithalten.</a:t>
            </a:r>
          </a:p>
        </p:txBody>
      </p:sp>
      <p:sp>
        <p:nvSpPr>
          <p:cNvPr id="13" name="Rounded Rectangle 12"/>
          <p:cNvSpPr/>
          <p:nvPr/>
        </p:nvSpPr>
        <p:spPr>
          <a:xfrm>
            <a:off x="640080" y="3566160"/>
            <a:ext cx="53035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566160"/>
            <a:ext cx="73152" cy="1965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712464"/>
            <a:ext cx="4937760" cy="365760"/>
          </a:xfrm>
          <a:prstGeom prst="rect">
            <a:avLst/>
          </a:prstGeom>
          <a:noFill/>
        </p:spPr>
        <p:txBody>
          <a:bodyPr wrap="square">
            <a:spAutoFit/>
          </a:bodyPr>
          <a:lstStyle/>
          <a:p>
            <a:pPr algn="l"/>
            <a:r>
              <a:rPr sz="1600" b="1">
                <a:solidFill>
                  <a:srgbClr val="1F4A3A"/>
                </a:solidFill>
                <a:latin typeface="Calibri"/>
              </a:rPr>
              <a:t>Nacht ohne Netz</a:t>
            </a:r>
          </a:p>
        </p:txBody>
      </p:sp>
      <p:sp>
        <p:nvSpPr>
          <p:cNvPr id="16" name="TextBox 15"/>
          <p:cNvSpPr txBox="1"/>
          <p:nvPr/>
        </p:nvSpPr>
        <p:spPr>
          <a:xfrm>
            <a:off x="896112" y="4041648"/>
            <a:ext cx="4937760" cy="1344168"/>
          </a:xfrm>
          <a:prstGeom prst="rect">
            <a:avLst/>
          </a:prstGeom>
          <a:noFill/>
        </p:spPr>
        <p:txBody>
          <a:bodyPr wrap="square">
            <a:spAutoFit/>
          </a:bodyPr>
          <a:lstStyle/>
          <a:p>
            <a:pPr algn="l"/>
            <a:r>
              <a:rPr sz="1300" b="0">
                <a:solidFill>
                  <a:srgbClr val="1A1A1A"/>
                </a:solidFill>
                <a:latin typeface="Calibri"/>
              </a:rPr>
              <a:t>Mobilbox statt Triage, bis die Klinik aufsperrt.</a:t>
            </a:r>
          </a:p>
        </p:txBody>
      </p:sp>
      <p:sp>
        <p:nvSpPr>
          <p:cNvPr id="17" name="Rounded Rectangle 16"/>
          <p:cNvSpPr/>
          <p:nvPr/>
        </p:nvSpPr>
        <p:spPr>
          <a:xfrm>
            <a:off x="6172200" y="3566160"/>
            <a:ext cx="53035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566160"/>
            <a:ext cx="73152" cy="1965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3712464"/>
            <a:ext cx="4937760" cy="365760"/>
          </a:xfrm>
          <a:prstGeom prst="rect">
            <a:avLst/>
          </a:prstGeom>
          <a:noFill/>
        </p:spPr>
        <p:txBody>
          <a:bodyPr wrap="square">
            <a:spAutoFit/>
          </a:bodyPr>
          <a:lstStyle/>
          <a:p>
            <a:pPr algn="l"/>
            <a:r>
              <a:rPr sz="1600" b="1">
                <a:solidFill>
                  <a:srgbClr val="1F4A3A"/>
                </a:solidFill>
                <a:latin typeface="Calibri"/>
              </a:rPr>
              <a:t>Import aus DE</a:t>
            </a:r>
          </a:p>
        </p:txBody>
      </p:sp>
      <p:sp>
        <p:nvSpPr>
          <p:cNvPr id="20" name="TextBox 19"/>
          <p:cNvSpPr txBox="1"/>
          <p:nvPr/>
        </p:nvSpPr>
        <p:spPr>
          <a:xfrm>
            <a:off x="6428232" y="4041648"/>
            <a:ext cx="4937760" cy="1344168"/>
          </a:xfrm>
          <a:prstGeom prst="rect">
            <a:avLst/>
          </a:prstGeom>
          <a:noFill/>
        </p:spPr>
        <p:txBody>
          <a:bodyPr wrap="square">
            <a:spAutoFit/>
          </a:bodyPr>
          <a:lstStyle/>
          <a:p>
            <a:pPr algn="l"/>
            <a:r>
              <a:rPr sz="1300" b="0">
                <a:solidFill>
                  <a:srgbClr val="1A1A1A"/>
                </a:solidFill>
                <a:latin typeface="Calibri"/>
              </a:rPr>
              <a:t>Hallo, Januar, Notdienst, zweiter Weihnachtstag – klingt nicht nach Josefstadt.</a:t>
            </a:r>
          </a:p>
        </p:txBody>
      </p:sp>
      <p:sp>
        <p:nvSpPr>
          <p:cNvPr id="21" name="Rectangle 20"/>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23" name="TextBox 22"/>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PRODUKTBILD</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Ein Anruf, drei Schichten</a:t>
            </a:r>
          </a:p>
        </p:txBody>
      </p:sp>
      <p:sp>
        <p:nvSpPr>
          <p:cNvPr id="5" name="Rounded Rectangle 4"/>
          <p:cNvSpPr/>
          <p:nvPr/>
        </p:nvSpPr>
        <p:spPr>
          <a:xfrm>
            <a:off x="640080" y="1463040"/>
            <a:ext cx="35204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73152" cy="41148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9344"/>
            <a:ext cx="3154680" cy="365760"/>
          </a:xfrm>
          <a:prstGeom prst="rect">
            <a:avLst/>
          </a:prstGeom>
          <a:noFill/>
        </p:spPr>
        <p:txBody>
          <a:bodyPr wrap="square">
            <a:spAutoFit/>
          </a:bodyPr>
          <a:lstStyle/>
          <a:p>
            <a:pPr algn="l"/>
            <a:r>
              <a:rPr sz="2000" b="1">
                <a:solidFill>
                  <a:srgbClr val="1F4A3A"/>
                </a:solidFill>
                <a:latin typeface="Calibri"/>
              </a:rPr>
              <a:t>1  Anrufer</a:t>
            </a:r>
          </a:p>
        </p:txBody>
      </p:sp>
      <p:sp>
        <p:nvSpPr>
          <p:cNvPr id="8" name="TextBox 7"/>
          <p:cNvSpPr txBox="1"/>
          <p:nvPr/>
        </p:nvSpPr>
        <p:spPr>
          <a:xfrm>
            <a:off x="896112" y="1938528"/>
            <a:ext cx="3154680" cy="3493008"/>
          </a:xfrm>
          <a:prstGeom prst="rect">
            <a:avLst/>
          </a:prstGeom>
          <a:noFill/>
        </p:spPr>
        <p:txBody>
          <a:bodyPr wrap="square">
            <a:spAutoFit/>
          </a:bodyPr>
          <a:lstStyle/>
          <a:p>
            <a:pPr algn="l"/>
            <a:r>
              <a:rPr sz="1500" b="0">
                <a:solidFill>
                  <a:srgbClr val="1A1A1A"/>
                </a:solidFill>
                <a:latin typeface="Calibri"/>
              </a:rPr>
              <a:t>Homepage, /sprechen oder der öffentliche Link /leitung/… – Silvia geht ans Telefon. Stimme oder Tastatur.</a:t>
            </a:r>
          </a:p>
        </p:txBody>
      </p:sp>
      <p:sp>
        <p:nvSpPr>
          <p:cNvPr id="9" name="Rounded Rectangle 8"/>
          <p:cNvSpPr/>
          <p:nvPr/>
        </p:nvSpPr>
        <p:spPr>
          <a:xfrm>
            <a:off x="4343400" y="1463040"/>
            <a:ext cx="35204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73152" cy="41148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1609344"/>
            <a:ext cx="3154680" cy="365760"/>
          </a:xfrm>
          <a:prstGeom prst="rect">
            <a:avLst/>
          </a:prstGeom>
          <a:noFill/>
        </p:spPr>
        <p:txBody>
          <a:bodyPr wrap="square">
            <a:spAutoFit/>
          </a:bodyPr>
          <a:lstStyle/>
          <a:p>
            <a:pPr algn="l"/>
            <a:r>
              <a:rPr sz="2000" b="1">
                <a:solidFill>
                  <a:srgbClr val="1F4A3A"/>
                </a:solidFill>
                <a:latin typeface="Calibri"/>
              </a:rPr>
              <a:t>2  Silvia</a:t>
            </a:r>
          </a:p>
        </p:txBody>
      </p:sp>
      <p:sp>
        <p:nvSpPr>
          <p:cNvPr id="12" name="TextBox 11"/>
          <p:cNvSpPr txBox="1"/>
          <p:nvPr/>
        </p:nvSpPr>
        <p:spPr>
          <a:xfrm>
            <a:off x="4599432" y="1938528"/>
            <a:ext cx="3154680" cy="3493008"/>
          </a:xfrm>
          <a:prstGeom prst="rect">
            <a:avLst/>
          </a:prstGeom>
          <a:noFill/>
        </p:spPr>
        <p:txBody>
          <a:bodyPr wrap="square">
            <a:spAutoFit/>
          </a:bodyPr>
          <a:lstStyle/>
          <a:p>
            <a:pPr algn="l"/>
            <a:r>
              <a:rPr sz="1500" b="0">
                <a:solidFill>
                  <a:srgbClr val="1A1A1A"/>
                </a:solidFill>
                <a:latin typeface="Calibri"/>
              </a:rPr>
              <a:t>Kennt Zeiten, Nachtdienst, Akte, gelernte Hinweise. Bucht, triagiert, fragt nach dem Tier. Kein Hallo.</a:t>
            </a:r>
          </a:p>
        </p:txBody>
      </p:sp>
      <p:sp>
        <p:nvSpPr>
          <p:cNvPr id="13" name="Rounded Rectangle 12"/>
          <p:cNvSpPr/>
          <p:nvPr/>
        </p:nvSpPr>
        <p:spPr>
          <a:xfrm>
            <a:off x="8046720" y="1463040"/>
            <a:ext cx="35204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463040"/>
            <a:ext cx="73152" cy="41148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609344"/>
            <a:ext cx="3154680" cy="365760"/>
          </a:xfrm>
          <a:prstGeom prst="rect">
            <a:avLst/>
          </a:prstGeom>
          <a:noFill/>
        </p:spPr>
        <p:txBody>
          <a:bodyPr wrap="square">
            <a:spAutoFit/>
          </a:bodyPr>
          <a:lstStyle/>
          <a:p>
            <a:pPr algn="l"/>
            <a:r>
              <a:rPr sz="2000" b="1">
                <a:solidFill>
                  <a:srgbClr val="1F4A3A"/>
                </a:solidFill>
                <a:latin typeface="Calibri"/>
              </a:rPr>
              <a:t>3  Ordination</a:t>
            </a:r>
          </a:p>
        </p:txBody>
      </p:sp>
      <p:sp>
        <p:nvSpPr>
          <p:cNvPr id="16" name="TextBox 15"/>
          <p:cNvSpPr txBox="1"/>
          <p:nvPr/>
        </p:nvSpPr>
        <p:spPr>
          <a:xfrm>
            <a:off x="8302752" y="1938528"/>
            <a:ext cx="3154680" cy="3493008"/>
          </a:xfrm>
          <a:prstGeom prst="rect">
            <a:avLst/>
          </a:prstGeom>
          <a:noFill/>
        </p:spPr>
        <p:txBody>
          <a:bodyPr wrap="square">
            <a:spAutoFit/>
          </a:bodyPr>
          <a:lstStyle/>
          <a:p>
            <a:pPr algn="l"/>
            <a:r>
              <a:rPr sz="1500" b="0">
                <a:solidFill>
                  <a:srgbClr val="1A1A1A"/>
                </a:solidFill>
                <a:latin typeface="Calibri"/>
              </a:rPr>
              <a:t>Praxistafel: Anruf, Termin, Notfall, Akte, WhatsApp- und Mail-Protokoll. Einstellungen steuern die Stimme.</a:t>
            </a:r>
          </a:p>
        </p:txBody>
      </p:sp>
      <p:sp>
        <p:nvSpPr>
          <p:cNvPr id="17" name="Rectangle 16"/>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9" name="TextBox 18"/>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WICHTIG FÜRS TESTEN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Demo ist Verkauf. /app ist die Ordination.</a:t>
            </a:r>
          </a:p>
        </p:txBody>
      </p:sp>
      <p:sp>
        <p:nvSpPr>
          <p:cNvPr id="5" name="Rounded Rectangle 4"/>
          <p:cNvSpPr/>
          <p:nvPr/>
        </p:nvSpPr>
        <p:spPr>
          <a:xfrm>
            <a:off x="64008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63624"/>
            <a:ext cx="4937760" cy="365760"/>
          </a:xfrm>
          <a:prstGeom prst="rect">
            <a:avLst/>
          </a:prstGeom>
          <a:noFill/>
        </p:spPr>
        <p:txBody>
          <a:bodyPr wrap="square">
            <a:spAutoFit/>
          </a:bodyPr>
          <a:lstStyle/>
          <a:p>
            <a:pPr algn="l"/>
            <a:r>
              <a:rPr sz="1800" b="1">
                <a:solidFill>
                  <a:srgbClr val="1F4A3A"/>
                </a:solidFill>
                <a:latin typeface="Calibri"/>
              </a:rPr>
              <a:t>Demo  ·  /demo  und Homepage</a:t>
            </a:r>
          </a:p>
        </p:txBody>
      </p:sp>
      <p:sp>
        <p:nvSpPr>
          <p:cNvPr id="8" name="TextBox 7"/>
          <p:cNvSpPr txBox="1"/>
          <p:nvPr/>
        </p:nvSpPr>
        <p:spPr>
          <a:xfrm>
            <a:off x="896112" y="1892808"/>
            <a:ext cx="4937760" cy="3767328"/>
          </a:xfrm>
          <a:prstGeom prst="rect">
            <a:avLst/>
          </a:prstGeom>
          <a:noFill/>
        </p:spPr>
        <p:txBody>
          <a:bodyPr wrap="square">
            <a:spAutoFit/>
          </a:bodyPr>
          <a:lstStyle/>
          <a:p>
            <a:pPr algn="l"/>
            <a:r>
              <a:rPr sz="1500" b="0">
                <a:solidFill>
                  <a:srgbClr val="1A1A1A"/>
                </a:solidFill>
                <a:latin typeface="Calibri"/>
              </a:rPr>
              <a:t>Tierordination Huber, 8. Bezirk. Fritz (nur in der Box), Wastl (Chip 040098100123456). Zustand + localStorage im Browser.
Die Homepage-Leitung ist bewusst Demo-Huber – auch wenn jemand eingeloggt ist. Trainieren dort merkt sich Silvia im Browser.
Gut zum Zeigen. Verschwindet nicht in der echten Tafel.</a:t>
            </a:r>
          </a:p>
        </p:txBody>
      </p:sp>
      <p:sp>
        <p:nvSpPr>
          <p:cNvPr id="9" name="Rounded Rectangle 8"/>
          <p:cNvSpPr/>
          <p:nvPr/>
        </p:nvSpPr>
        <p:spPr>
          <a:xfrm>
            <a:off x="626364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63624"/>
            <a:ext cx="4937760" cy="365760"/>
          </a:xfrm>
          <a:prstGeom prst="rect">
            <a:avLst/>
          </a:prstGeom>
          <a:noFill/>
        </p:spPr>
        <p:txBody>
          <a:bodyPr wrap="square">
            <a:spAutoFit/>
          </a:bodyPr>
          <a:lstStyle/>
          <a:p>
            <a:pPr algn="l"/>
            <a:r>
              <a:rPr sz="1800" b="1">
                <a:solidFill>
                  <a:srgbClr val="1F4A3A"/>
                </a:solidFill>
                <a:latin typeface="Calibri"/>
              </a:rPr>
              <a:t>Live  ·  /app  nach Registrieren</a:t>
            </a:r>
          </a:p>
        </p:txBody>
      </p:sp>
      <p:sp>
        <p:nvSpPr>
          <p:cNvPr id="12" name="TextBox 11"/>
          <p:cNvSpPr txBox="1"/>
          <p:nvPr/>
        </p:nvSpPr>
        <p:spPr>
          <a:xfrm>
            <a:off x="6519672" y="1892808"/>
            <a:ext cx="4937760" cy="3767328"/>
          </a:xfrm>
          <a:prstGeom prst="rect">
            <a:avLst/>
          </a:prstGeom>
          <a:noFill/>
        </p:spPr>
        <p:txBody>
          <a:bodyPr wrap="square">
            <a:spAutoFit/>
          </a:bodyPr>
          <a:lstStyle/>
          <a:p>
            <a:pPr algn="l"/>
            <a:r>
              <a:rPr sz="1500" b="0">
                <a:solidFill>
                  <a:srgbClr val="1A1A1A"/>
                </a:solidFill>
                <a:latin typeface="Calibri"/>
              </a:rPr>
              <a:t>Eigenes Konto, Cookie silvia.session (nicht Better Auth). Anrufe, Termine, Akte, Protokoll liegen in der Datenbank.
Einstellungen gelten für Silvia. Trainieren auf /sprechen schreibt in „Was Silvia gelernt hat“.
Ohne DATABASE_URL: PGLite im Speicher – Restart löscht Testordinationen.</a:t>
            </a:r>
          </a:p>
        </p:txBody>
      </p:sp>
      <p:sp>
        <p:nvSpPr>
          <p:cNvPr id="13" name="Rectangle 1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5" name="TextBox 1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LIVE IM PRODUKT</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Feature-Karte – alles, was man heute klicken kann</a:t>
            </a:r>
          </a:p>
        </p:txBody>
      </p:sp>
      <p:sp>
        <p:nvSpPr>
          <p:cNvPr id="5" name="Rounded Rectangle 4"/>
          <p:cNvSpPr/>
          <p:nvPr/>
        </p:nvSpPr>
        <p:spPr>
          <a:xfrm>
            <a:off x="640080" y="129844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9844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44752"/>
            <a:ext cx="3154680" cy="365760"/>
          </a:xfrm>
          <a:prstGeom prst="rect">
            <a:avLst/>
          </a:prstGeom>
          <a:noFill/>
        </p:spPr>
        <p:txBody>
          <a:bodyPr wrap="square">
            <a:spAutoFit/>
          </a:bodyPr>
          <a:lstStyle/>
          <a:p>
            <a:pPr algn="l"/>
            <a:r>
              <a:rPr sz="1400" b="1">
                <a:solidFill>
                  <a:srgbClr val="1F4A3A"/>
                </a:solidFill>
                <a:latin typeface="Calibri"/>
              </a:rPr>
              <a:t>Anrufen</a:t>
            </a:r>
          </a:p>
        </p:txBody>
      </p:sp>
      <p:sp>
        <p:nvSpPr>
          <p:cNvPr id="8" name="TextBox 7"/>
          <p:cNvSpPr txBox="1"/>
          <p:nvPr/>
        </p:nvSpPr>
        <p:spPr>
          <a:xfrm>
            <a:off x="896112" y="1773936"/>
            <a:ext cx="3154680" cy="493776"/>
          </a:xfrm>
          <a:prstGeom prst="rect">
            <a:avLst/>
          </a:prstGeom>
          <a:noFill/>
        </p:spPr>
        <p:txBody>
          <a:bodyPr wrap="square">
            <a:spAutoFit/>
          </a:bodyPr>
          <a:lstStyle/>
          <a:p>
            <a:pPr algn="l"/>
            <a:r>
              <a:rPr sz="1200" b="0">
                <a:solidFill>
                  <a:srgbClr val="1A1A1A"/>
                </a:solidFill>
                <a:latin typeface="Calibri"/>
              </a:rPr>
              <a:t>Homepage und /sprechen – echtes Gespräch, nicht Playback.</a:t>
            </a:r>
          </a:p>
        </p:txBody>
      </p:sp>
      <p:sp>
        <p:nvSpPr>
          <p:cNvPr id="9" name="Rounded Rectangle 8"/>
          <p:cNvSpPr/>
          <p:nvPr/>
        </p:nvSpPr>
        <p:spPr>
          <a:xfrm>
            <a:off x="4343400" y="129844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9844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1444752"/>
            <a:ext cx="3154680" cy="365760"/>
          </a:xfrm>
          <a:prstGeom prst="rect">
            <a:avLst/>
          </a:prstGeom>
          <a:noFill/>
        </p:spPr>
        <p:txBody>
          <a:bodyPr wrap="square">
            <a:spAutoFit/>
          </a:bodyPr>
          <a:lstStyle/>
          <a:p>
            <a:pPr algn="l"/>
            <a:r>
              <a:rPr sz="1400" b="1">
                <a:solidFill>
                  <a:srgbClr val="1F4A3A"/>
                </a:solidFill>
                <a:latin typeface="Calibri"/>
              </a:rPr>
              <a:t>Trainieren</a:t>
            </a:r>
          </a:p>
        </p:txBody>
      </p:sp>
      <p:sp>
        <p:nvSpPr>
          <p:cNvPr id="12" name="TextBox 11"/>
          <p:cNvSpPr txBox="1"/>
          <p:nvPr/>
        </p:nvSpPr>
        <p:spPr>
          <a:xfrm>
            <a:off x="4599432" y="1773936"/>
            <a:ext cx="3154680" cy="493776"/>
          </a:xfrm>
          <a:prstGeom prst="rect">
            <a:avLst/>
          </a:prstGeom>
          <a:noFill/>
        </p:spPr>
        <p:txBody>
          <a:bodyPr wrap="square">
            <a:spAutoFit/>
          </a:bodyPr>
          <a:lstStyle/>
          <a:p>
            <a:pPr algn="l"/>
            <a:r>
              <a:rPr sz="1200" b="0">
                <a:solidFill>
                  <a:srgbClr val="1A1A1A"/>
                </a:solidFill>
                <a:latin typeface="Calibri"/>
              </a:rPr>
              <a:t>Dieselbe Leitung. Hinweise merken, dann nachfragen.</a:t>
            </a:r>
          </a:p>
        </p:txBody>
      </p:sp>
      <p:sp>
        <p:nvSpPr>
          <p:cNvPr id="13" name="Rounded Rectangle 12"/>
          <p:cNvSpPr/>
          <p:nvPr/>
        </p:nvSpPr>
        <p:spPr>
          <a:xfrm>
            <a:off x="8046720" y="129844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29844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444752"/>
            <a:ext cx="3154680" cy="365760"/>
          </a:xfrm>
          <a:prstGeom prst="rect">
            <a:avLst/>
          </a:prstGeom>
          <a:noFill/>
        </p:spPr>
        <p:txBody>
          <a:bodyPr wrap="square">
            <a:spAutoFit/>
          </a:bodyPr>
          <a:lstStyle/>
          <a:p>
            <a:pPr algn="l"/>
            <a:r>
              <a:rPr sz="1400" b="1">
                <a:solidFill>
                  <a:srgbClr val="1F4A3A"/>
                </a:solidFill>
                <a:latin typeface="Calibri"/>
              </a:rPr>
              <a:t>Öffentliche Leitung</a:t>
            </a:r>
          </a:p>
        </p:txBody>
      </p:sp>
      <p:sp>
        <p:nvSpPr>
          <p:cNvPr id="16" name="TextBox 15"/>
          <p:cNvSpPr txBox="1"/>
          <p:nvPr/>
        </p:nvSpPr>
        <p:spPr>
          <a:xfrm>
            <a:off x="8302752" y="1773936"/>
            <a:ext cx="3154680" cy="493776"/>
          </a:xfrm>
          <a:prstGeom prst="rect">
            <a:avLst/>
          </a:prstGeom>
          <a:noFill/>
        </p:spPr>
        <p:txBody>
          <a:bodyPr wrap="square">
            <a:spAutoFit/>
          </a:bodyPr>
          <a:lstStyle/>
          <a:p>
            <a:pPr algn="l"/>
            <a:r>
              <a:rPr sz="1200" b="0">
                <a:solidFill>
                  <a:srgbClr val="1A1A1A"/>
                </a:solidFill>
                <a:latin typeface="Calibri"/>
              </a:rPr>
              <a:t>/leitung/{slug} – Anrufer ohne Login.</a:t>
            </a:r>
          </a:p>
        </p:txBody>
      </p:sp>
      <p:sp>
        <p:nvSpPr>
          <p:cNvPr id="17" name="Rounded Rectangle 16"/>
          <p:cNvSpPr/>
          <p:nvPr/>
        </p:nvSpPr>
        <p:spPr>
          <a:xfrm>
            <a:off x="640080" y="253288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53288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2679192"/>
            <a:ext cx="3154680" cy="365760"/>
          </a:xfrm>
          <a:prstGeom prst="rect">
            <a:avLst/>
          </a:prstGeom>
          <a:noFill/>
        </p:spPr>
        <p:txBody>
          <a:bodyPr wrap="square">
            <a:spAutoFit/>
          </a:bodyPr>
          <a:lstStyle/>
          <a:p>
            <a:pPr algn="l"/>
            <a:r>
              <a:rPr sz="1400" b="1">
                <a:solidFill>
                  <a:srgbClr val="1F4A3A"/>
                </a:solidFill>
                <a:latin typeface="Calibri"/>
              </a:rPr>
              <a:t>Praxistafel</a:t>
            </a:r>
          </a:p>
        </p:txBody>
      </p:sp>
      <p:sp>
        <p:nvSpPr>
          <p:cNvPr id="20" name="TextBox 19"/>
          <p:cNvSpPr txBox="1"/>
          <p:nvPr/>
        </p:nvSpPr>
        <p:spPr>
          <a:xfrm>
            <a:off x="896112" y="3008376"/>
            <a:ext cx="3154680" cy="493776"/>
          </a:xfrm>
          <a:prstGeom prst="rect">
            <a:avLst/>
          </a:prstGeom>
          <a:noFill/>
        </p:spPr>
        <p:txBody>
          <a:bodyPr wrap="square">
            <a:spAutoFit/>
          </a:bodyPr>
          <a:lstStyle/>
          <a:p>
            <a:pPr algn="l"/>
            <a:r>
              <a:rPr sz="1200" b="0">
                <a:solidFill>
                  <a:srgbClr val="1A1A1A"/>
                </a:solidFill>
                <a:latin typeface="Calibri"/>
              </a:rPr>
              <a:t>/app – Heute, Anrufe, Kalender, Protokoll, Notfall, Akte.</a:t>
            </a:r>
          </a:p>
        </p:txBody>
      </p:sp>
      <p:sp>
        <p:nvSpPr>
          <p:cNvPr id="21" name="Rounded Rectangle 20"/>
          <p:cNvSpPr/>
          <p:nvPr/>
        </p:nvSpPr>
        <p:spPr>
          <a:xfrm>
            <a:off x="4343400" y="253288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253288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2" y="2679192"/>
            <a:ext cx="3154680" cy="365760"/>
          </a:xfrm>
          <a:prstGeom prst="rect">
            <a:avLst/>
          </a:prstGeom>
          <a:noFill/>
        </p:spPr>
        <p:txBody>
          <a:bodyPr wrap="square">
            <a:spAutoFit/>
          </a:bodyPr>
          <a:lstStyle/>
          <a:p>
            <a:pPr algn="l"/>
            <a:r>
              <a:rPr sz="1400" b="1">
                <a:solidFill>
                  <a:srgbClr val="1F4A3A"/>
                </a:solidFill>
                <a:latin typeface="Calibri"/>
              </a:rPr>
              <a:t>Einstellungen</a:t>
            </a:r>
          </a:p>
        </p:txBody>
      </p:sp>
      <p:sp>
        <p:nvSpPr>
          <p:cNvPr id="24" name="TextBox 23"/>
          <p:cNvSpPr txBox="1"/>
          <p:nvPr/>
        </p:nvSpPr>
        <p:spPr>
          <a:xfrm>
            <a:off x="4599432" y="3008376"/>
            <a:ext cx="3154680" cy="493776"/>
          </a:xfrm>
          <a:prstGeom prst="rect">
            <a:avLst/>
          </a:prstGeom>
          <a:noFill/>
        </p:spPr>
        <p:txBody>
          <a:bodyPr wrap="square">
            <a:spAutoFit/>
          </a:bodyPr>
          <a:lstStyle/>
          <a:p>
            <a:pPr algn="l"/>
            <a:r>
              <a:rPr sz="1200" b="0">
                <a:solidFill>
                  <a:srgbClr val="1A1A1A"/>
                </a:solidFill>
                <a:latin typeface="Calibri"/>
              </a:rPr>
              <a:t>Adresse, Zeiten, Nachtdienst, WhatsApp, E-Mail, Link kopieren.</a:t>
            </a:r>
          </a:p>
        </p:txBody>
      </p:sp>
      <p:sp>
        <p:nvSpPr>
          <p:cNvPr id="25" name="Rounded Rectangle 24"/>
          <p:cNvSpPr/>
          <p:nvPr/>
        </p:nvSpPr>
        <p:spPr>
          <a:xfrm>
            <a:off x="8046720" y="253288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253288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2" y="2679192"/>
            <a:ext cx="3154680" cy="365760"/>
          </a:xfrm>
          <a:prstGeom prst="rect">
            <a:avLst/>
          </a:prstGeom>
          <a:noFill/>
        </p:spPr>
        <p:txBody>
          <a:bodyPr wrap="square">
            <a:spAutoFit/>
          </a:bodyPr>
          <a:lstStyle/>
          <a:p>
            <a:pPr algn="l"/>
            <a:r>
              <a:rPr sz="1400" b="1">
                <a:solidFill>
                  <a:srgbClr val="1F4A3A"/>
                </a:solidFill>
                <a:latin typeface="Calibri"/>
              </a:rPr>
              <a:t>Akte</a:t>
            </a:r>
          </a:p>
        </p:txBody>
      </p:sp>
      <p:sp>
        <p:nvSpPr>
          <p:cNvPr id="28" name="TextBox 27"/>
          <p:cNvSpPr txBox="1"/>
          <p:nvPr/>
        </p:nvSpPr>
        <p:spPr>
          <a:xfrm>
            <a:off x="8302752" y="3008376"/>
            <a:ext cx="3154680" cy="493776"/>
          </a:xfrm>
          <a:prstGeom prst="rect">
            <a:avLst/>
          </a:prstGeom>
          <a:noFill/>
        </p:spPr>
        <p:txBody>
          <a:bodyPr wrap="square">
            <a:spAutoFit/>
          </a:bodyPr>
          <a:lstStyle/>
          <a:p>
            <a:pPr algn="l"/>
            <a:r>
              <a:rPr sz="1200" b="0">
                <a:solidFill>
                  <a:srgbClr val="1A1A1A"/>
                </a:solidFill>
                <a:latin typeface="Calibri"/>
              </a:rPr>
              <a:t>Patienten aus Gesprächen. Demo: Fritz und Wastl.</a:t>
            </a:r>
          </a:p>
        </p:txBody>
      </p:sp>
      <p:sp>
        <p:nvSpPr>
          <p:cNvPr id="29" name="Rounded Rectangle 28"/>
          <p:cNvSpPr/>
          <p:nvPr/>
        </p:nvSpPr>
        <p:spPr>
          <a:xfrm>
            <a:off x="640080" y="376732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376732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3913632"/>
            <a:ext cx="3154680" cy="365760"/>
          </a:xfrm>
          <a:prstGeom prst="rect">
            <a:avLst/>
          </a:prstGeom>
          <a:noFill/>
        </p:spPr>
        <p:txBody>
          <a:bodyPr wrap="square">
            <a:spAutoFit/>
          </a:bodyPr>
          <a:lstStyle/>
          <a:p>
            <a:pPr algn="l"/>
            <a:r>
              <a:rPr sz="1400" b="1">
                <a:solidFill>
                  <a:srgbClr val="1F4A3A"/>
                </a:solidFill>
                <a:latin typeface="Calibri"/>
              </a:rPr>
              <a:t>Kalender</a:t>
            </a:r>
          </a:p>
        </p:txBody>
      </p:sp>
      <p:sp>
        <p:nvSpPr>
          <p:cNvPr id="32" name="TextBox 31"/>
          <p:cNvSpPr txBox="1"/>
          <p:nvPr/>
        </p:nvSpPr>
        <p:spPr>
          <a:xfrm>
            <a:off x="896112" y="4242816"/>
            <a:ext cx="3154680" cy="493776"/>
          </a:xfrm>
          <a:prstGeom prst="rect">
            <a:avLst/>
          </a:prstGeom>
          <a:noFill/>
        </p:spPr>
        <p:txBody>
          <a:bodyPr wrap="square">
            <a:spAutoFit/>
          </a:bodyPr>
          <a:lstStyle/>
          <a:p>
            <a:pPr algn="l"/>
            <a:r>
              <a:rPr sz="1200" b="0">
                <a:solidFill>
                  <a:srgbClr val="1A1A1A"/>
                </a:solidFill>
                <a:latin typeface="Calibri"/>
              </a:rPr>
              <a:t>Nächster Slot nur in hinterlegten Fenstern, nie an AT-Feiertagen.</a:t>
            </a:r>
          </a:p>
        </p:txBody>
      </p:sp>
      <p:sp>
        <p:nvSpPr>
          <p:cNvPr id="33" name="Rounded Rectangle 32"/>
          <p:cNvSpPr/>
          <p:nvPr/>
        </p:nvSpPr>
        <p:spPr>
          <a:xfrm>
            <a:off x="4343400" y="376732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3400" y="376732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99432" y="3913632"/>
            <a:ext cx="3154680" cy="365760"/>
          </a:xfrm>
          <a:prstGeom prst="rect">
            <a:avLst/>
          </a:prstGeom>
          <a:noFill/>
        </p:spPr>
        <p:txBody>
          <a:bodyPr wrap="square">
            <a:spAutoFit/>
          </a:bodyPr>
          <a:lstStyle/>
          <a:p>
            <a:pPr algn="l"/>
            <a:r>
              <a:rPr sz="1400" b="1">
                <a:solidFill>
                  <a:srgbClr val="1F4A3A"/>
                </a:solidFill>
                <a:latin typeface="Calibri"/>
              </a:rPr>
              <a:t>Notfall</a:t>
            </a:r>
          </a:p>
        </p:txBody>
      </p:sp>
      <p:sp>
        <p:nvSpPr>
          <p:cNvPr id="36" name="TextBox 35"/>
          <p:cNvSpPr txBox="1"/>
          <p:nvPr/>
        </p:nvSpPr>
        <p:spPr>
          <a:xfrm>
            <a:off x="4599432" y="4242816"/>
            <a:ext cx="3154680" cy="493776"/>
          </a:xfrm>
          <a:prstGeom prst="rect">
            <a:avLst/>
          </a:prstGeom>
          <a:noFill/>
        </p:spPr>
        <p:txBody>
          <a:bodyPr wrap="square">
            <a:spAutoFit/>
          </a:bodyPr>
          <a:lstStyle/>
          <a:p>
            <a:pPr algn="l"/>
            <a:r>
              <a:rPr sz="1200" b="0">
                <a:solidFill>
                  <a:srgbClr val="1A1A1A"/>
                </a:solidFill>
                <a:latin typeface="Calibri"/>
              </a:rPr>
              <a:t>Triage, Nachtdienst je Bundesland, Protokoll geht mit.</a:t>
            </a:r>
          </a:p>
        </p:txBody>
      </p:sp>
      <p:sp>
        <p:nvSpPr>
          <p:cNvPr id="37" name="Rounded Rectangle 36"/>
          <p:cNvSpPr/>
          <p:nvPr/>
        </p:nvSpPr>
        <p:spPr>
          <a:xfrm>
            <a:off x="8046720" y="376732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376732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02752" y="3913632"/>
            <a:ext cx="3154680" cy="365760"/>
          </a:xfrm>
          <a:prstGeom prst="rect">
            <a:avLst/>
          </a:prstGeom>
          <a:noFill/>
        </p:spPr>
        <p:txBody>
          <a:bodyPr wrap="square">
            <a:spAutoFit/>
          </a:bodyPr>
          <a:lstStyle/>
          <a:p>
            <a:pPr algn="l"/>
            <a:r>
              <a:rPr sz="1400" b="1">
                <a:solidFill>
                  <a:srgbClr val="1F4A3A"/>
                </a:solidFill>
                <a:latin typeface="Calibri"/>
              </a:rPr>
              <a:t>Protokoll</a:t>
            </a:r>
          </a:p>
        </p:txBody>
      </p:sp>
      <p:sp>
        <p:nvSpPr>
          <p:cNvPr id="40" name="TextBox 39"/>
          <p:cNvSpPr txBox="1"/>
          <p:nvPr/>
        </p:nvSpPr>
        <p:spPr>
          <a:xfrm>
            <a:off x="8302752" y="4242816"/>
            <a:ext cx="3154680" cy="493776"/>
          </a:xfrm>
          <a:prstGeom prst="rect">
            <a:avLst/>
          </a:prstGeom>
          <a:noFill/>
        </p:spPr>
        <p:txBody>
          <a:bodyPr wrap="square">
            <a:spAutoFit/>
          </a:bodyPr>
          <a:lstStyle/>
          <a:p>
            <a:pPr algn="l"/>
            <a:r>
              <a:rPr sz="1200" b="0">
                <a:solidFill>
                  <a:srgbClr val="1A1A1A"/>
                </a:solidFill>
                <a:latin typeface="Calibri"/>
              </a:rPr>
              <a:t>Interner Thread + wa.me und mailto an die Frau Doktor.</a:t>
            </a:r>
          </a:p>
        </p:txBody>
      </p:sp>
      <p:sp>
        <p:nvSpPr>
          <p:cNvPr id="41" name="Rounded Rectangle 40"/>
          <p:cNvSpPr/>
          <p:nvPr/>
        </p:nvSpPr>
        <p:spPr>
          <a:xfrm>
            <a:off x="640080" y="500176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500176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5148072"/>
            <a:ext cx="3154680" cy="365760"/>
          </a:xfrm>
          <a:prstGeom prst="rect">
            <a:avLst/>
          </a:prstGeom>
          <a:noFill/>
        </p:spPr>
        <p:txBody>
          <a:bodyPr wrap="square">
            <a:spAutoFit/>
          </a:bodyPr>
          <a:lstStyle/>
          <a:p>
            <a:pPr algn="l"/>
            <a:r>
              <a:rPr sz="1400" b="1">
                <a:solidFill>
                  <a:srgbClr val="1F4A3A"/>
                </a:solidFill>
                <a:latin typeface="Calibri"/>
              </a:rPr>
              <a:t>Stimme &amp; Gesicht</a:t>
            </a:r>
          </a:p>
        </p:txBody>
      </p:sp>
      <p:sp>
        <p:nvSpPr>
          <p:cNvPr id="44" name="TextBox 43"/>
          <p:cNvSpPr txBox="1"/>
          <p:nvPr/>
        </p:nvSpPr>
        <p:spPr>
          <a:xfrm>
            <a:off x="896112" y="5477256"/>
            <a:ext cx="3154680" cy="493776"/>
          </a:xfrm>
          <a:prstGeom prst="rect">
            <a:avLst/>
          </a:prstGeom>
          <a:noFill/>
        </p:spPr>
        <p:txBody>
          <a:bodyPr wrap="square">
            <a:spAutoFit/>
          </a:bodyPr>
          <a:lstStyle/>
          <a:p>
            <a:pPr algn="l"/>
            <a:r>
              <a:rPr sz="1200" b="0">
                <a:solidFill>
                  <a:srgbClr val="1A1A1A"/>
                </a:solidFill>
                <a:latin typeface="Calibri"/>
              </a:rPr>
              <a:t>Fünf Avatare, fünf Stimmen, Grüß Gott statt Hallo.</a:t>
            </a:r>
          </a:p>
        </p:txBody>
      </p:sp>
      <p:sp>
        <p:nvSpPr>
          <p:cNvPr id="45" name="Rounded Rectangle 44"/>
          <p:cNvSpPr/>
          <p:nvPr/>
        </p:nvSpPr>
        <p:spPr>
          <a:xfrm>
            <a:off x="4343400" y="500176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43400" y="500176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99432" y="5148072"/>
            <a:ext cx="3154680" cy="365760"/>
          </a:xfrm>
          <a:prstGeom prst="rect">
            <a:avLst/>
          </a:prstGeom>
          <a:noFill/>
        </p:spPr>
        <p:txBody>
          <a:bodyPr wrap="square">
            <a:spAutoFit/>
          </a:bodyPr>
          <a:lstStyle/>
          <a:p>
            <a:pPr algn="l"/>
            <a:r>
              <a:rPr sz="1400" b="1">
                <a:solidFill>
                  <a:srgbClr val="1F4A3A"/>
                </a:solidFill>
                <a:latin typeface="Calibri"/>
              </a:rPr>
              <a:t>AT-Wissen</a:t>
            </a:r>
          </a:p>
        </p:txBody>
      </p:sp>
      <p:sp>
        <p:nvSpPr>
          <p:cNvPr id="48" name="TextBox 47"/>
          <p:cNvSpPr txBox="1"/>
          <p:nvPr/>
        </p:nvSpPr>
        <p:spPr>
          <a:xfrm>
            <a:off x="4599432" y="5477256"/>
            <a:ext cx="3154680" cy="493776"/>
          </a:xfrm>
          <a:prstGeom prst="rect">
            <a:avLst/>
          </a:prstGeom>
          <a:noFill/>
        </p:spPr>
        <p:txBody>
          <a:bodyPr wrap="square">
            <a:spAutoFit/>
          </a:bodyPr>
          <a:lstStyle/>
          <a:p>
            <a:pPr algn="l"/>
            <a:r>
              <a:rPr sz="1200" b="0">
                <a:solidFill>
                  <a:srgbClr val="1A1A1A"/>
                </a:solidFill>
                <a:latin typeface="Calibri"/>
              </a:rPr>
              <a:t>Chip, Heimtierdatenbank, Hundeabgabe, U2, Stefanitag.</a:t>
            </a:r>
          </a:p>
        </p:txBody>
      </p:sp>
      <p:sp>
        <p:nvSpPr>
          <p:cNvPr id="49" name="Rounded Rectangle 48"/>
          <p:cNvSpPr/>
          <p:nvPr/>
        </p:nvSpPr>
        <p:spPr>
          <a:xfrm>
            <a:off x="8046720" y="5001768"/>
            <a:ext cx="3520440" cy="1115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46720" y="5001768"/>
            <a:ext cx="73152" cy="1115568"/>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02752" y="5148072"/>
            <a:ext cx="3154680" cy="365760"/>
          </a:xfrm>
          <a:prstGeom prst="rect">
            <a:avLst/>
          </a:prstGeom>
          <a:noFill/>
        </p:spPr>
        <p:txBody>
          <a:bodyPr wrap="square">
            <a:spAutoFit/>
          </a:bodyPr>
          <a:lstStyle/>
          <a:p>
            <a:pPr algn="l"/>
            <a:r>
              <a:rPr sz="1400" b="1">
                <a:solidFill>
                  <a:srgbClr val="1F4A3A"/>
                </a:solidFill>
                <a:latin typeface="Calibri"/>
              </a:rPr>
              <a:t>Konto</a:t>
            </a:r>
          </a:p>
        </p:txBody>
      </p:sp>
      <p:sp>
        <p:nvSpPr>
          <p:cNvPr id="52" name="TextBox 51"/>
          <p:cNvSpPr txBox="1"/>
          <p:nvPr/>
        </p:nvSpPr>
        <p:spPr>
          <a:xfrm>
            <a:off x="8302752" y="5477256"/>
            <a:ext cx="3154680" cy="493776"/>
          </a:xfrm>
          <a:prstGeom prst="rect">
            <a:avLst/>
          </a:prstGeom>
          <a:noFill/>
        </p:spPr>
        <p:txBody>
          <a:bodyPr wrap="square">
            <a:spAutoFit/>
          </a:bodyPr>
          <a:lstStyle/>
          <a:p>
            <a:pPr algn="l"/>
            <a:r>
              <a:rPr sz="1200" b="0">
                <a:solidFill>
                  <a:srgbClr val="1A1A1A"/>
                </a:solidFill>
                <a:latin typeface="Calibri"/>
              </a:rPr>
              <a:t>Registrieren, Anmelden, 21 Tage, monatlich kündbar.</a:t>
            </a:r>
          </a:p>
        </p:txBody>
      </p:sp>
      <p:sp>
        <p:nvSpPr>
          <p:cNvPr id="53" name="Rectangle 5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55" name="TextBox 5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LEITUNG</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Silvia wirklich anrufen</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Auf der Startseite sitzt das Telefon im Hero – Anrufen ist kein Link mehr, sondern die Leitung.</a:t>
            </a:r>
          </a:p>
          <a:p>
            <a:pPr>
              <a:spcAft>
                <a:spcPts val="1000"/>
              </a:spcAft>
            </a:pPr>
            <a:r>
              <a:rPr sz="1600" b="0">
                <a:solidFill>
                  <a:srgbClr val="1A1A1A"/>
                </a:solidFill>
                <a:latin typeface="Calibri"/>
              </a:rPr>
              <a:t>·  Gleicher Baustein auf /sprechen (volle Seite) und im App-Menü „Silvia anrufen“.</a:t>
            </a:r>
          </a:p>
          <a:p>
            <a:pPr>
              <a:spcAft>
                <a:spcPts val="1000"/>
              </a:spcAft>
            </a:pPr>
            <a:r>
              <a:rPr sz="1600" b="0">
                <a:solidFill>
                  <a:srgbClr val="1A1A1A"/>
                </a:solidFill>
                <a:latin typeface="Calibri"/>
              </a:rPr>
              <a:t>·  Klingeln, Grüß Gott, Mikrofon oder Tippen. Vorschläge: Fritz, Impfung, Atemnot, Rückruf.</a:t>
            </a:r>
          </a:p>
          <a:p>
            <a:pPr>
              <a:spcAft>
                <a:spcPts val="1000"/>
              </a:spcAft>
            </a:pPr>
            <a:r>
              <a:rPr sz="1600" b="0">
                <a:solidFill>
                  <a:srgbClr val="1A1A1A"/>
                </a:solidFill>
                <a:latin typeface="Calibri"/>
              </a:rPr>
              <a:t>·  Eingeloggt auf /sprechen: Silvia spricht mit den Zeiten und dem Nachtdienst dieser Ordination – nicht Huber.</a:t>
            </a:r>
          </a:p>
          <a:p>
            <a:pPr>
              <a:spcAft>
                <a:spcPts val="1000"/>
              </a:spcAft>
            </a:pPr>
            <a:r>
              <a:rPr sz="1600" b="0">
                <a:solidFill>
                  <a:srgbClr val="1A1A1A"/>
                </a:solidFill>
                <a:latin typeface="Calibri"/>
              </a:rPr>
              <a:t>·  Ohne Session: Demo-Huber. Homepage bleibt immer Demo, damit Fritz zum Zeigen da ist.</a:t>
            </a:r>
          </a:p>
          <a:p>
            <a:pPr>
              <a:spcAft>
                <a:spcPts val="1000"/>
              </a:spcAft>
            </a:pPr>
            <a:r>
              <a:rPr sz="1600" b="0">
                <a:solidFill>
                  <a:srgbClr val="1A1A1A"/>
                </a:solidFill>
                <a:latin typeface="Calibri"/>
              </a:rPr>
              <a:t>·  Nach dem Gespräch: Akte, Protokoll, Praxistafel – in der Demo lokal, live in der Datenbank.</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SCHULUNG</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Silvia über denselben Weg trainieren</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Am Telefon umschalten: Anrufen | Trainieren. Dann „Schulung starten“.</a:t>
            </a:r>
          </a:p>
          <a:p>
            <a:pPr>
              <a:spcAft>
                <a:spcPts val="1000"/>
              </a:spcAft>
            </a:pPr>
            <a:r>
              <a:rPr sz="1600" b="0">
                <a:solidFill>
                  <a:srgbClr val="1A1A1A"/>
                </a:solidFill>
                <a:latin typeface="Calibri"/>
              </a:rPr>
              <a:t>·  Sagen, wie DIESE Ordination arbeitet – z. B. „Mittwoch nur Kastrationen.“ oder „Fritz nur in der Box.“</a:t>
            </a:r>
          </a:p>
          <a:p>
            <a:pPr>
              <a:spcAft>
                <a:spcPts val="1000"/>
              </a:spcAft>
            </a:pPr>
            <a:r>
              <a:rPr sz="1600" b="0">
                <a:solidFill>
                  <a:srgbClr val="1A1A1A"/>
                </a:solidFill>
                <a:latin typeface="Calibri"/>
              </a:rPr>
              <a:t>·  Silvia wiederholt, was sie sich merkt, und fragt nach dem nächsten Hinweis.</a:t>
            </a:r>
          </a:p>
          <a:p>
            <a:pPr>
              <a:spcAft>
                <a:spcPts val="1000"/>
              </a:spcAft>
            </a:pPr>
            <a:r>
              <a:rPr sz="1600" b="0">
                <a:solidFill>
                  <a:srgbClr val="1A1A1A"/>
                </a:solidFill>
                <a:latin typeface="Calibri"/>
              </a:rPr>
              <a:t>·  Demo (Homepage): merkt sich das im Browser. Danach Anrufen und nachfragen.</a:t>
            </a:r>
          </a:p>
          <a:p>
            <a:pPr>
              <a:spcAft>
                <a:spcPts val="1000"/>
              </a:spcAft>
            </a:pPr>
            <a:r>
              <a:rPr sz="1600" b="0">
                <a:solidFill>
                  <a:srgbClr val="1A1A1A"/>
                </a:solidFill>
                <a:latin typeface="Calibri"/>
              </a:rPr>
              <a:t>·  Live (/sprechen, eingeloggt): landet unter Einstellungen → „Was Silvia gelernt hat“. Löschen geht dort.</a:t>
            </a:r>
          </a:p>
          <a:p>
            <a:pPr>
              <a:spcAft>
                <a:spcPts val="1000"/>
              </a:spcAft>
            </a:pPr>
            <a:r>
              <a:rPr sz="1600" b="0">
                <a:solidFill>
                  <a:srgbClr val="1A1A1A"/>
                </a:solidFill>
                <a:latin typeface="Calibri"/>
              </a:rPr>
              <a:t>·  Öffentliche Anrufer-URL /leitung/… hat kein Trainieren – Klientel soll die Ordination nicht umprogrammieren.</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ARBEITSPLATZ DER KASSA</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Die Praxistafel – /app</a:t>
            </a:r>
          </a:p>
        </p:txBody>
      </p:sp>
      <p:sp>
        <p:nvSpPr>
          <p:cNvPr id="5" name="TextBox 4"/>
          <p:cNvSpPr txBox="1"/>
          <p:nvPr/>
        </p:nvSpPr>
        <p:spPr>
          <a:xfrm>
            <a:off x="640080" y="1371600"/>
            <a:ext cx="10972800" cy="4937760"/>
          </a:xfrm>
          <a:prstGeom prst="rect">
            <a:avLst/>
          </a:prstGeom>
          <a:noFill/>
        </p:spPr>
        <p:txBody>
          <a:bodyPr wrap="square">
            <a:spAutoFit/>
          </a:bodyPr>
          <a:lstStyle/>
          <a:p>
            <a:pPr>
              <a:spcAft>
                <a:spcPts val="800"/>
              </a:spcAft>
            </a:pPr>
            <a:r>
              <a:rPr sz="1600" b="1">
                <a:solidFill>
                  <a:srgbClr val="1F4A3A"/>
                </a:solidFill>
                <a:latin typeface="Calibri"/>
              </a:rPr>
              <a:t>Heute   </a:t>
            </a:r>
            <a:r>
              <a:rPr sz="1400" b="0">
                <a:solidFill>
                  <a:srgbClr val="5C645E"/>
                </a:solidFill>
                <a:latin typeface="Calibri"/>
              </a:rPr>
              <a:t>/app   </a:t>
            </a:r>
            <a:r>
              <a:rPr sz="1500" b="0">
                <a:solidFill>
                  <a:srgbClr val="1A1A1A"/>
                </a:solidFill>
                <a:latin typeface="Calibri"/>
              </a:rPr>
              <a:t>Zähler und Überblick: Anrufe, Termine, Notfälle des Tages.</a:t>
            </a:r>
          </a:p>
          <a:p>
            <a:pPr>
              <a:spcAft>
                <a:spcPts val="800"/>
              </a:spcAft>
            </a:pPr>
            <a:r>
              <a:rPr sz="1600" b="1">
                <a:solidFill>
                  <a:srgbClr val="1F4A3A"/>
                </a:solidFill>
                <a:latin typeface="Calibri"/>
              </a:rPr>
              <a:t>Anrufe   </a:t>
            </a:r>
            <a:r>
              <a:rPr sz="1400" b="0">
                <a:solidFill>
                  <a:srgbClr val="5C645E"/>
                </a:solidFill>
                <a:latin typeface="Calibri"/>
              </a:rPr>
              <a:t>/app/anrufe   </a:t>
            </a:r>
            <a:r>
              <a:rPr sz="1500" b="0">
                <a:solidFill>
                  <a:srgbClr val="1A1A1A"/>
                </a:solidFill>
                <a:latin typeface="Calibri"/>
              </a:rPr>
              <a:t>Kanal, Anrufer, Tier, Anliegen, Status, Transkript.</a:t>
            </a:r>
          </a:p>
          <a:p>
            <a:pPr>
              <a:spcAft>
                <a:spcPts val="800"/>
              </a:spcAft>
            </a:pPr>
            <a:r>
              <a:rPr sz="1600" b="1">
                <a:solidFill>
                  <a:srgbClr val="1F4A3A"/>
                </a:solidFill>
                <a:latin typeface="Calibri"/>
              </a:rPr>
              <a:t>Kalender   </a:t>
            </a:r>
            <a:r>
              <a:rPr sz="1400" b="0">
                <a:solidFill>
                  <a:srgbClr val="5C645E"/>
                </a:solidFill>
                <a:latin typeface="Calibri"/>
              </a:rPr>
              <a:t>/app/kalender   </a:t>
            </a:r>
            <a:r>
              <a:rPr sz="1500" b="0">
                <a:solidFill>
                  <a:srgbClr val="1A1A1A"/>
                </a:solidFill>
                <a:latin typeface="Calibri"/>
              </a:rPr>
              <a:t>Slots, Walk-in, bestätigen/absagen. SMS und WhatsApp gehen an die Halterin.</a:t>
            </a:r>
          </a:p>
          <a:p>
            <a:pPr>
              <a:spcAft>
                <a:spcPts val="800"/>
              </a:spcAft>
            </a:pPr>
            <a:r>
              <a:rPr sz="1600" b="1">
                <a:solidFill>
                  <a:srgbClr val="1F4A3A"/>
                </a:solidFill>
                <a:latin typeface="Calibri"/>
              </a:rPr>
              <a:t>Protokoll   </a:t>
            </a:r>
            <a:r>
              <a:rPr sz="1400" b="0">
                <a:solidFill>
                  <a:srgbClr val="5C645E"/>
                </a:solidFill>
                <a:latin typeface="Calibri"/>
              </a:rPr>
              <a:t>/app/nachrichten   </a:t>
            </a:r>
            <a:r>
              <a:rPr sz="1500" b="0">
                <a:solidFill>
                  <a:srgbClr val="1A1A1A"/>
                </a:solidFill>
                <a:latin typeface="Calibri"/>
              </a:rPr>
              <a:t>Intern an die Frau Doktor (wa.me / mailto). Bestätigung an die Klientel.</a:t>
            </a:r>
          </a:p>
          <a:p>
            <a:pPr>
              <a:spcAft>
                <a:spcPts val="800"/>
              </a:spcAft>
            </a:pPr>
            <a:r>
              <a:rPr sz="1600" b="1">
                <a:solidFill>
                  <a:srgbClr val="1F4A3A"/>
                </a:solidFill>
                <a:latin typeface="Calibri"/>
              </a:rPr>
              <a:t>Notfall   </a:t>
            </a:r>
            <a:r>
              <a:rPr sz="1400" b="0">
                <a:solidFill>
                  <a:srgbClr val="5C645E"/>
                </a:solidFill>
                <a:latin typeface="Calibri"/>
              </a:rPr>
              <a:t>/app/notfall   </a:t>
            </a:r>
            <a:r>
              <a:rPr sz="1500" b="0">
                <a:solidFill>
                  <a:srgbClr val="1A1A1A"/>
                </a:solidFill>
                <a:latin typeface="Calibri"/>
              </a:rPr>
              <a:t>Triage. Kassa ruft Nachtdienst an (tel / SMS / WhatsApp aus den Einstellungen).</a:t>
            </a:r>
          </a:p>
          <a:p>
            <a:pPr>
              <a:spcAft>
                <a:spcPts val="800"/>
              </a:spcAft>
            </a:pPr>
            <a:r>
              <a:rPr sz="1600" b="1">
                <a:solidFill>
                  <a:srgbClr val="1F4A3A"/>
                </a:solidFill>
                <a:latin typeface="Calibri"/>
              </a:rPr>
              <a:t>Akte   </a:t>
            </a:r>
            <a:r>
              <a:rPr sz="1400" b="0">
                <a:solidFill>
                  <a:srgbClr val="5C645E"/>
                </a:solidFill>
                <a:latin typeface="Calibri"/>
              </a:rPr>
              <a:t>/app/akte   </a:t>
            </a:r>
            <a:r>
              <a:rPr sz="1500" b="0">
                <a:solidFill>
                  <a:srgbClr val="1A1A1A"/>
                </a:solidFill>
                <a:latin typeface="Calibri"/>
              </a:rPr>
              <a:t>Patienten dieser Ordination – nicht Fritz aus der Demo.</a:t>
            </a:r>
          </a:p>
          <a:p>
            <a:pPr>
              <a:spcAft>
                <a:spcPts val="800"/>
              </a:spcAft>
            </a:pPr>
            <a:r>
              <a:rPr sz="1600" b="1">
                <a:solidFill>
                  <a:srgbClr val="1F4A3A"/>
                </a:solidFill>
                <a:latin typeface="Calibri"/>
              </a:rPr>
              <a:t>Einstellungen   </a:t>
            </a:r>
            <a:r>
              <a:rPr sz="1400" b="0">
                <a:solidFill>
                  <a:srgbClr val="5C645E"/>
                </a:solidFill>
                <a:latin typeface="Calibri"/>
              </a:rPr>
              <a:t>/app/einstellungen   </a:t>
            </a:r>
            <a:r>
              <a:rPr sz="1500" b="0">
                <a:solidFill>
                  <a:srgbClr val="1A1A1A"/>
                </a:solidFill>
                <a:latin typeface="Calibri"/>
              </a:rPr>
              <a:t>Stammdaten, Zeiten, Nachtdienst, Leitungslink, Gelerntes.</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TENANT</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Einstellungen machen Silvia zur eigenen</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Name, Inhaberin, Straße, PLZ, Ort, Bundesland.</a:t>
            </a:r>
          </a:p>
          <a:p>
            <a:pPr>
              <a:spcAft>
                <a:spcPts val="1000"/>
              </a:spcAft>
            </a:pPr>
            <a:r>
              <a:rPr sz="1600" b="0">
                <a:solidFill>
                  <a:srgbClr val="1A1A1A"/>
                </a:solidFill>
                <a:latin typeface="Calibri"/>
              </a:rPr>
              <a:t>·  Telefon, WhatsApp, E-Mail, Praxissoftware (vetera, easyVET, pentavèt, Animondo, …).</a:t>
            </a:r>
          </a:p>
          <a:p>
            <a:pPr>
              <a:spcAft>
                <a:spcPts val="1000"/>
              </a:spcAft>
            </a:pPr>
            <a:r>
              <a:rPr sz="1600" b="0">
                <a:solidFill>
                  <a:srgbClr val="1A1A1A"/>
                </a:solidFill>
                <a:latin typeface="Calibri"/>
              </a:rPr>
              <a:t>·  Ordinationszeiten je Tag – Silvia legt nur in diesen Fenstern. Format 8:00–12:00, 14:00–18:00.</a:t>
            </a:r>
          </a:p>
          <a:p>
            <a:pPr>
              <a:spcAft>
                <a:spcPts val="1000"/>
              </a:spcAft>
            </a:pPr>
            <a:r>
              <a:rPr sz="1600" b="0">
                <a:solidFill>
                  <a:srgbClr val="1A1A1A"/>
                </a:solidFill>
                <a:latin typeface="Calibri"/>
              </a:rPr>
              <a:t>·  Nachtdienst: Stelle, Telefon, Hinweis. Default je Bundesland (Wien: Vetmeduni).</a:t>
            </a:r>
          </a:p>
          <a:p>
            <a:pPr>
              <a:spcAft>
                <a:spcPts val="1000"/>
              </a:spcAft>
            </a:pPr>
            <a:r>
              <a:rPr sz="1600" b="0">
                <a:solidFill>
                  <a:srgbClr val="1A1A1A"/>
                </a:solidFill>
                <a:latin typeface="Calibri"/>
              </a:rPr>
              <a:t>·  Interne Notiz + gelernte Fakten vom Trainieren.</a:t>
            </a:r>
          </a:p>
          <a:p>
            <a:pPr>
              <a:spcAft>
                <a:spcPts val="1000"/>
              </a:spcAft>
            </a:pPr>
            <a:r>
              <a:rPr sz="1600" b="0">
                <a:solidFill>
                  <a:srgbClr val="1A1A1A"/>
                </a:solidFill>
                <a:latin typeface="Calibri"/>
              </a:rPr>
              <a:t>·  Öffentliche Leitung: Link /leitung/{slug} kopieren – Anrufer brauchen kein Konto. Gespräche landen auf der Tafel.</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ANRUFER OHNE LOGIN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Die öffentliche Leitung</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Jede Ordination bekommt einen Slug (z. B. tierordination-murtal).</a:t>
            </a:r>
          </a:p>
          <a:p>
            <a:pPr>
              <a:spcAft>
                <a:spcPts val="1000"/>
              </a:spcAft>
            </a:pPr>
            <a:r>
              <a:rPr sz="1600" b="0">
                <a:solidFill>
                  <a:srgbClr val="1A1A1A"/>
                </a:solidFill>
                <a:latin typeface="Calibri"/>
              </a:rPr>
              <a:t>·  URL: https://…/leitung/&lt;slug&gt; – teilen wie eine Nummer.</a:t>
            </a:r>
          </a:p>
          <a:p>
            <a:pPr>
              <a:spcAft>
                <a:spcPts val="1000"/>
              </a:spcAft>
            </a:pPr>
            <a:r>
              <a:rPr sz="1600" b="0">
                <a:solidFill>
                  <a:srgbClr val="1A1A1A"/>
                </a:solidFill>
                <a:latin typeface="Calibri"/>
              </a:rPr>
              <a:t>·  Der Slug gewinnt vor einer Staff-Session: wer eingeloggt eine fremde Leitung anruft, schreibt nicht auf die eigene Tafel.</a:t>
            </a:r>
          </a:p>
          <a:p>
            <a:pPr>
              <a:spcAft>
                <a:spcPts val="1000"/>
              </a:spcAft>
            </a:pPr>
            <a:r>
              <a:rPr sz="1600" b="0">
                <a:solidFill>
                  <a:srgbClr val="1A1A1A"/>
                </a:solidFill>
                <a:latin typeface="Calibri"/>
              </a:rPr>
              <a:t>·  Kanal im Board: web (nicht telefon) – damit man sieht, woher der Anruf kam.</a:t>
            </a:r>
          </a:p>
          <a:p>
            <a:pPr>
              <a:spcAft>
                <a:spcPts val="1000"/>
              </a:spcAft>
            </a:pPr>
            <a:r>
              <a:rPr sz="1600" b="0">
                <a:solidFill>
                  <a:srgbClr val="1A1A1A"/>
                </a:solidFill>
                <a:latin typeface="Calibri"/>
              </a:rPr>
              <a:t>·  Das ist die Brücke zur echten Nummer: erst der Link, später PSTN (Twilio o. ä.) mit Keys.</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SONDEREDITION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Akte: Silvia kennt Fritz</a:t>
            </a:r>
          </a:p>
        </p:txBody>
      </p:sp>
      <p:sp>
        <p:nvSpPr>
          <p:cNvPr id="5" name="Rounded Rectangle 4"/>
          <p:cNvSpPr/>
          <p:nvPr/>
        </p:nvSpPr>
        <p:spPr>
          <a:xfrm>
            <a:off x="64008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63624"/>
            <a:ext cx="4937760" cy="365760"/>
          </a:xfrm>
          <a:prstGeom prst="rect">
            <a:avLst/>
          </a:prstGeom>
          <a:noFill/>
        </p:spPr>
        <p:txBody>
          <a:bodyPr wrap="square">
            <a:spAutoFit/>
          </a:bodyPr>
          <a:lstStyle/>
          <a:p>
            <a:pPr algn="l"/>
            <a:r>
              <a:rPr sz="1800" b="1">
                <a:solidFill>
                  <a:srgbClr val="1F4A3A"/>
                </a:solidFill>
                <a:latin typeface="Calibri"/>
              </a:rPr>
              <a:t>In der Demo</a:t>
            </a:r>
          </a:p>
        </p:txBody>
      </p:sp>
      <p:sp>
        <p:nvSpPr>
          <p:cNvPr id="8" name="TextBox 7"/>
          <p:cNvSpPr txBox="1"/>
          <p:nvPr/>
        </p:nvSpPr>
        <p:spPr>
          <a:xfrm>
            <a:off x="896112" y="1892808"/>
            <a:ext cx="4937760" cy="3767328"/>
          </a:xfrm>
          <a:prstGeom prst="rect">
            <a:avLst/>
          </a:prstGeom>
          <a:noFill/>
        </p:spPr>
        <p:txBody>
          <a:bodyPr wrap="square">
            <a:spAutoFit/>
          </a:bodyPr>
          <a:lstStyle/>
          <a:p>
            <a:pPr algn="l"/>
            <a:r>
              <a:rPr sz="1500" b="0">
                <a:solidFill>
                  <a:srgbClr val="1A1A1A"/>
                </a:solidFill>
                <a:latin typeface="Calibri"/>
              </a:rPr>
              <a:t>Fritz, Kater von Mag. Eva Berger – nur in der Transportbox. Wastl mit Chip 040098100123456. Chip nachschlagen auf der Startseite.
Ohne Akte sagt Silvia ehrlich: Standard-Leitung, keine Kartei. Mit Akte liest sie letzten Besuch, Impfung, Warnungen.</a:t>
            </a:r>
          </a:p>
        </p:txBody>
      </p:sp>
      <p:sp>
        <p:nvSpPr>
          <p:cNvPr id="9" name="Rounded Rectangle 8"/>
          <p:cNvSpPr/>
          <p:nvPr/>
        </p:nvSpPr>
        <p:spPr>
          <a:xfrm>
            <a:off x="626364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63624"/>
            <a:ext cx="4937760" cy="365760"/>
          </a:xfrm>
          <a:prstGeom prst="rect">
            <a:avLst/>
          </a:prstGeom>
          <a:noFill/>
        </p:spPr>
        <p:txBody>
          <a:bodyPr wrap="square">
            <a:spAutoFit/>
          </a:bodyPr>
          <a:lstStyle/>
          <a:p>
            <a:pPr algn="l"/>
            <a:r>
              <a:rPr sz="1800" b="1">
                <a:solidFill>
                  <a:srgbClr val="1F4A3A"/>
                </a:solidFill>
                <a:latin typeface="Calibri"/>
              </a:rPr>
              <a:t>In der Live-Ordination</a:t>
            </a:r>
          </a:p>
        </p:txBody>
      </p:sp>
      <p:sp>
        <p:nvSpPr>
          <p:cNvPr id="12" name="TextBox 11"/>
          <p:cNvSpPr txBox="1"/>
          <p:nvPr/>
        </p:nvSpPr>
        <p:spPr>
          <a:xfrm>
            <a:off x="6519672" y="1892808"/>
            <a:ext cx="4937760" cy="3767328"/>
          </a:xfrm>
          <a:prstGeom prst="rect">
            <a:avLst/>
          </a:prstGeom>
          <a:noFill/>
        </p:spPr>
        <p:txBody>
          <a:bodyPr wrap="square">
            <a:spAutoFit/>
          </a:bodyPr>
          <a:lstStyle/>
          <a:p>
            <a:pPr algn="l"/>
            <a:r>
              <a:rPr sz="1500" b="0">
                <a:solidFill>
                  <a:srgbClr val="1A1A1A"/>
                </a:solidFill>
                <a:latin typeface="Calibri"/>
              </a:rPr>
              <a:t>Keine Demo-Tiere. Die Kartei füllt sich aus Gesprächen (Name, Spezies, Chip, Notiz). Leere Akte: Silvia sagt das und legt trotzdem einen Slot.
Aufpreis laut Preisseite: +149 € netto / Monat, nur mit Tarif Ordination oder Klinik. Im Produkt ist die Wissenslage schon der Default der Live-Leitung.</a:t>
            </a:r>
          </a:p>
        </p:txBody>
      </p:sp>
      <p:sp>
        <p:nvSpPr>
          <p:cNvPr id="13" name="Rectangle 1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5" name="TextBox 1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KLINISCH RELEVANT, OHNE ZU BEHANDELN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Notfall und Kalender</a:t>
            </a:r>
          </a:p>
        </p:txBody>
      </p:sp>
      <p:sp>
        <p:nvSpPr>
          <p:cNvPr id="5" name="Rounded Rectangle 4"/>
          <p:cNvSpPr/>
          <p:nvPr/>
        </p:nvSpPr>
        <p:spPr>
          <a:xfrm>
            <a:off x="64008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63624"/>
            <a:ext cx="4937760" cy="365760"/>
          </a:xfrm>
          <a:prstGeom prst="rect">
            <a:avLst/>
          </a:prstGeom>
          <a:noFill/>
        </p:spPr>
        <p:txBody>
          <a:bodyPr wrap="square">
            <a:spAutoFit/>
          </a:bodyPr>
          <a:lstStyle/>
          <a:p>
            <a:pPr algn="l"/>
            <a:r>
              <a:rPr sz="1800" b="1">
                <a:solidFill>
                  <a:srgbClr val="1F4A3A"/>
                </a:solidFill>
                <a:latin typeface="Calibri"/>
              </a:rPr>
              <a:t>Notfall</a:t>
            </a:r>
          </a:p>
        </p:txBody>
      </p:sp>
      <p:sp>
        <p:nvSpPr>
          <p:cNvPr id="8" name="TextBox 7"/>
          <p:cNvSpPr txBox="1"/>
          <p:nvPr/>
        </p:nvSpPr>
        <p:spPr>
          <a:xfrm>
            <a:off x="896112" y="1892808"/>
            <a:ext cx="4937760" cy="3767328"/>
          </a:xfrm>
          <a:prstGeom prst="rect">
            <a:avLst/>
          </a:prstGeom>
          <a:noFill/>
        </p:spPr>
        <p:txBody>
          <a:bodyPr wrap="square">
            <a:spAutoFit/>
          </a:bodyPr>
          <a:lstStyle/>
          <a:p>
            <a:pPr algn="l"/>
            <a:r>
              <a:rPr sz="1500" b="0">
                <a:solidFill>
                  <a:srgbClr val="1A1A1A"/>
                </a:solidFill>
                <a:latin typeface="Calibri"/>
              </a:rPr>
              <a:t>Atemnot, blaue Schleimhäute, Blutung, Krampf, Gift, Unfall, aufgeblähter Bauch, Stachel, Geburt, Trauma.
Silvia triagiert und schreibt das Protokoll. Auf /app/notfall ruft die Kassa den hinterlegten Nachtdienst an (tel, SMS, WhatsApp – Wien default Vetmeduni). Kein medizinischer Rat.</a:t>
            </a:r>
          </a:p>
        </p:txBody>
      </p:sp>
      <p:sp>
        <p:nvSpPr>
          <p:cNvPr id="9" name="Rounded Rectangle 8"/>
          <p:cNvSpPr/>
          <p:nvPr/>
        </p:nvSpPr>
        <p:spPr>
          <a:xfrm>
            <a:off x="6263640" y="1417320"/>
            <a:ext cx="5303520"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417320"/>
            <a:ext cx="73152" cy="438912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63624"/>
            <a:ext cx="4937760" cy="365760"/>
          </a:xfrm>
          <a:prstGeom prst="rect">
            <a:avLst/>
          </a:prstGeom>
          <a:noFill/>
        </p:spPr>
        <p:txBody>
          <a:bodyPr wrap="square">
            <a:spAutoFit/>
          </a:bodyPr>
          <a:lstStyle/>
          <a:p>
            <a:pPr algn="l"/>
            <a:r>
              <a:rPr sz="1800" b="1">
                <a:solidFill>
                  <a:srgbClr val="1F4A3A"/>
                </a:solidFill>
                <a:latin typeface="Calibri"/>
              </a:rPr>
              <a:t>Kalender</a:t>
            </a:r>
          </a:p>
        </p:txBody>
      </p:sp>
      <p:sp>
        <p:nvSpPr>
          <p:cNvPr id="12" name="TextBox 11"/>
          <p:cNvSpPr txBox="1"/>
          <p:nvPr/>
        </p:nvSpPr>
        <p:spPr>
          <a:xfrm>
            <a:off x="6519672" y="1892808"/>
            <a:ext cx="4937760" cy="3767328"/>
          </a:xfrm>
          <a:prstGeom prst="rect">
            <a:avLst/>
          </a:prstGeom>
          <a:noFill/>
        </p:spPr>
        <p:txBody>
          <a:bodyPr wrap="square">
            <a:spAutoFit/>
          </a:bodyPr>
          <a:lstStyle/>
          <a:p>
            <a:pPr algn="l"/>
            <a:r>
              <a:rPr sz="1500" b="0">
                <a:solidFill>
                  <a:srgbClr val="1A1A1A"/>
                </a:solidFill>
                <a:latin typeface="Calibri"/>
              </a:rPr>
              <a:t>Nächster freier Slot aus den hinterlegten Fenstern. 20 Minuten. Nie an gesetzlichen Feiertagen (Stefanitag, nicht 2. Weihnachtstag; Karfreitag in AT kein gesetzlicher Feiertag).
Mittag 12–14 oft zu – Silvia sagt die hinterlegten Zeiten, nicht das Wort Mittagssperre als Gesetz.</a:t>
            </a:r>
          </a:p>
        </p:txBody>
      </p:sp>
      <p:sp>
        <p:nvSpPr>
          <p:cNvPr id="13" name="Rectangle 1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5" name="TextBox 1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AN DIE FRAU DOKTOR</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WhatsApp und E-Mail – ehrlich, was live ist</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Nach dem Gespräch liegt ein internes Protokoll plus optional eine Bestätigung an die Klientel.</a:t>
            </a:r>
          </a:p>
          <a:p>
            <a:pPr>
              <a:spcAft>
                <a:spcPts val="1000"/>
              </a:spcAft>
            </a:pPr>
            <a:r>
              <a:rPr sz="1600" b="0">
                <a:solidFill>
                  <a:srgbClr val="1A1A1A"/>
                </a:solidFill>
                <a:latin typeface="Calibri"/>
              </a:rPr>
              <a:t>·  Intern (/app/nachrichten): wa.me und mailto an die Frau Doktor aus den Einstellungen. Ohne WhatsApp-Nummer bleibt der Senden-Knopf weg.</a:t>
            </a:r>
          </a:p>
          <a:p>
            <a:pPr>
              <a:spcAft>
                <a:spcPts val="1000"/>
              </a:spcAft>
            </a:pPr>
            <a:r>
              <a:rPr sz="1600" b="0">
                <a:solidFill>
                  <a:srgbClr val="1A1A1A"/>
                </a:solidFill>
                <a:latin typeface="Calibri"/>
              </a:rPr>
              <a:t>·  An die Halterin: auf Heute, Kalender, Akte und Anrufe – „SMS an Halterin“ und „WhatsApp an Halterin“ auf patients.phone (sms:+43… / wa.me).</a:t>
            </a:r>
          </a:p>
          <a:p>
            <a:pPr>
              <a:spcAft>
                <a:spcPts val="1000"/>
              </a:spcAft>
            </a:pPr>
            <a:r>
              <a:rPr sz="1600" b="0">
                <a:solidFill>
                  <a:srgbClr val="1A1A1A"/>
                </a:solidFill>
                <a:latin typeface="Calibri"/>
              </a:rPr>
              <a:t>·  Silvia sendet nichts selbst. Das ist kein WhatsApp-Business-API, kein SMTP, keine SMS-Zentrale – der Entwurf öffnet sich auf dem Handy der Kassa.</a:t>
            </a:r>
          </a:p>
          <a:p>
            <a:pPr>
              <a:spcAft>
                <a:spcPts val="1000"/>
              </a:spcAft>
            </a:pPr>
            <a:r>
              <a:rPr sz="1600" b="0">
                <a:solidFill>
                  <a:srgbClr val="1A1A1A"/>
                </a:solidFill>
                <a:latin typeface="Calibri"/>
              </a:rPr>
              <a:t>·  Live-Anruf: Silvia fragt nach Name und Handy der Halterin. Chipnummern werden nicht als Handy gelesen.</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NUR IN ÖSTERREICH</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Was eine DE-Lösung nicht mitbringt</a:t>
            </a:r>
          </a:p>
        </p:txBody>
      </p:sp>
      <p:sp>
        <p:nvSpPr>
          <p:cNvPr id="5" name="TextBox 4"/>
          <p:cNvSpPr txBox="1"/>
          <p:nvPr/>
        </p:nvSpPr>
        <p:spPr>
          <a:xfrm>
            <a:off x="640080" y="1353312"/>
            <a:ext cx="10972800" cy="4937760"/>
          </a:xfrm>
          <a:prstGeom prst="rect">
            <a:avLst/>
          </a:prstGeom>
          <a:noFill/>
        </p:spPr>
        <p:txBody>
          <a:bodyPr wrap="square">
            <a:spAutoFit/>
          </a:bodyPr>
          <a:lstStyle/>
          <a:p>
            <a:pPr>
              <a:spcAft>
                <a:spcPts val="1000"/>
              </a:spcAft>
            </a:pPr>
            <a:r>
              <a:rPr sz="1600" b="1">
                <a:solidFill>
                  <a:srgbClr val="1F4A3A"/>
                </a:solidFill>
                <a:latin typeface="Calibri"/>
              </a:rPr>
              <a:t>Sprache   </a:t>
            </a:r>
            <a:r>
              <a:rPr sz="1500" b="0">
                <a:solidFill>
                  <a:srgbClr val="1A1A1A"/>
                </a:solidFill>
                <a:latin typeface="Calibri"/>
              </a:rPr>
              <a:t>Ordination, Jänner, Handy, Nachtdienst, Grüß Gott, heuer, Stefanitag, Spital, Kassa, Klientel, Frau Doktor</a:t>
            </a:r>
          </a:p>
          <a:p>
            <a:pPr>
              <a:spcAft>
                <a:spcPts val="1000"/>
              </a:spcAft>
            </a:pPr>
            <a:r>
              <a:rPr sz="1600" b="1">
                <a:solidFill>
                  <a:srgbClr val="1F4A3A"/>
                </a:solidFill>
                <a:latin typeface="Calibri"/>
              </a:rPr>
              <a:t>Kalender   </a:t>
            </a:r>
            <a:r>
              <a:rPr sz="1500" b="0">
                <a:solidFill>
                  <a:srgbClr val="1A1A1A"/>
                </a:solidFill>
                <a:latin typeface="Calibri"/>
              </a:rPr>
              <a:t>Heilige Drei Könige, Fronleichnam, Mariä Empfängnis, Nationalfeiertag 26. Oktober. Karfreitag kein gesetzlicher Feiertag.</a:t>
            </a:r>
          </a:p>
          <a:p>
            <a:pPr>
              <a:spcAft>
                <a:spcPts val="1000"/>
              </a:spcAft>
            </a:pPr>
            <a:r>
              <a:rPr sz="1600" b="1">
                <a:solidFill>
                  <a:srgbClr val="1F4A3A"/>
                </a:solidFill>
                <a:latin typeface="Calibri"/>
              </a:rPr>
              <a:t>Nachtdienst   </a:t>
            </a:r>
            <a:r>
              <a:rPr sz="1500" b="0">
                <a:solidFill>
                  <a:srgbClr val="1A1A1A"/>
                </a:solidFill>
                <a:latin typeface="Calibri"/>
              </a:rPr>
              <a:t>Neun Bundesländer, Wien typisch Vetmeduni. Hinterlegbar in den Einstellungen.</a:t>
            </a:r>
          </a:p>
          <a:p>
            <a:pPr>
              <a:spcAft>
                <a:spcPts val="1000"/>
              </a:spcAft>
            </a:pPr>
            <a:r>
              <a:rPr sz="1600" b="1">
                <a:solidFill>
                  <a:srgbClr val="1F4A3A"/>
                </a:solidFill>
                <a:latin typeface="Calibri"/>
              </a:rPr>
              <a:t>Register   </a:t>
            </a:r>
            <a:r>
              <a:rPr sz="1500" b="0">
                <a:solidFill>
                  <a:srgbClr val="1A1A1A"/>
                </a:solidFill>
                <a:latin typeface="Calibri"/>
              </a:rPr>
              <a:t>Chippflicht Hund seit 2010, Heimtierdatenbank. Silvia nimmt die Nummer, sie meldet nicht selbst.</a:t>
            </a:r>
          </a:p>
          <a:p>
            <a:pPr>
              <a:spcAft>
                <a:spcPts val="1000"/>
              </a:spcAft>
            </a:pPr>
            <a:r>
              <a:rPr sz="1600" b="1">
                <a:solidFill>
                  <a:srgbClr val="1F4A3A"/>
                </a:solidFill>
                <a:latin typeface="Calibri"/>
              </a:rPr>
              <a:t>Wien   </a:t>
            </a:r>
            <a:r>
              <a:rPr sz="1500" b="0">
                <a:solidFill>
                  <a:srgbClr val="1A1A1A"/>
                </a:solidFill>
                <a:latin typeface="Calibri"/>
              </a:rPr>
              <a:t>U2 Rathaus, Maulkorb in den Linien außer Box, Kurzparkzone / Parkpickerl, Hundeabgabe MA 6.</a:t>
            </a:r>
          </a:p>
          <a:p>
            <a:pPr>
              <a:spcAft>
                <a:spcPts val="1000"/>
              </a:spcAft>
            </a:pPr>
            <a:r>
              <a:rPr sz="1600" b="1">
                <a:solidFill>
                  <a:srgbClr val="1F4A3A"/>
                </a:solidFill>
                <a:latin typeface="Calibri"/>
              </a:rPr>
              <a:t>Reise   </a:t>
            </a:r>
            <a:r>
              <a:rPr sz="1500" b="0">
                <a:solidFill>
                  <a:srgbClr val="1A1A1A"/>
                </a:solidFill>
                <a:latin typeface="Calibri"/>
              </a:rPr>
              <a:t>EU-Heimtierausweis, Tollwut, Slot vor Italien / Kroatien / Ungarn / Slowenien.</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MARKE</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Immer Silvia. Gesicht und Stimme wählbar.</a:t>
            </a:r>
          </a:p>
        </p:txBody>
      </p:sp>
      <p:sp>
        <p:nvSpPr>
          <p:cNvPr id="5" name="TextBox 4"/>
          <p:cNvSpPr txBox="1"/>
          <p:nvPr/>
        </p:nvSpPr>
        <p:spPr>
          <a:xfrm>
            <a:off x="640080" y="1417320"/>
            <a:ext cx="10972800" cy="4846320"/>
          </a:xfrm>
          <a:prstGeom prst="rect">
            <a:avLst/>
          </a:prstGeom>
          <a:noFill/>
        </p:spPr>
        <p:txBody>
          <a:bodyPr wrap="square">
            <a:spAutoFit/>
          </a:bodyPr>
          <a:lstStyle/>
          <a:p>
            <a:pPr>
              <a:spcAft>
                <a:spcPts val="1000"/>
              </a:spcAft>
            </a:pPr>
            <a:r>
              <a:rPr sz="1600" b="0">
                <a:solidFill>
                  <a:srgbClr val="1A1A1A"/>
                </a:solidFill>
                <a:latin typeface="Calibri"/>
              </a:rPr>
              <a:t>·  Fünf Gesichter (Wien, Graz, Linz, Innsbruck, Salzburg) – AvatarPicker auf Start und /sprechen.</a:t>
            </a:r>
          </a:p>
          <a:p>
            <a:pPr>
              <a:spcAft>
                <a:spcPts val="1000"/>
              </a:spcAft>
            </a:pPr>
            <a:r>
              <a:rPr sz="1600" b="0">
                <a:solidFill>
                  <a:srgbClr val="1A1A1A"/>
                </a:solidFill>
                <a:latin typeface="Calibri"/>
              </a:rPr>
              <a:t>·  Fünf Stimmen, Grüß Gott und Signatur als Audiodateien. TTS über XAI, lokal ohne Key weiter nutzbar.</a:t>
            </a:r>
          </a:p>
          <a:p>
            <a:pPr>
              <a:spcAft>
                <a:spcPts val="1000"/>
              </a:spcAft>
            </a:pPr>
            <a:r>
              <a:rPr sz="1600" b="0">
                <a:solidFill>
                  <a:srgbClr val="1A1A1A"/>
                </a:solidFill>
                <a:latin typeface="Calibri"/>
              </a:rPr>
              <a:t>·  Ton: erfahrene Rezeptionistin, Siezen, knapp, 2–5 Sätze. Kein Dialekt-Theater, kein Oida, kein Hallo.</a:t>
            </a:r>
          </a:p>
          <a:p>
            <a:pPr>
              <a:spcAft>
                <a:spcPts val="1000"/>
              </a:spcAft>
            </a:pPr>
            <a:r>
              <a:rPr sz="1600" b="0">
                <a:solidFill>
                  <a:srgbClr val="1A1A1A"/>
                </a:solidFill>
                <a:latin typeface="Calibri"/>
              </a:rPr>
              <a:t>·  Das ist das Verkaufsargument: nicht ein Chatbot, sondern die Stimme am Apparat.</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ZAHLEN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Preise – netto, 20 % USt, keine Mindestlaufzeit</a:t>
            </a:r>
          </a:p>
        </p:txBody>
      </p:sp>
      <p:sp>
        <p:nvSpPr>
          <p:cNvPr id="5" name="Rounded Rectangle 4"/>
          <p:cNvSpPr/>
          <p:nvPr/>
        </p:nvSpPr>
        <p:spPr>
          <a:xfrm>
            <a:off x="640080" y="1371600"/>
            <a:ext cx="3520440" cy="3108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3108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17904"/>
            <a:ext cx="3154680" cy="365760"/>
          </a:xfrm>
          <a:prstGeom prst="rect">
            <a:avLst/>
          </a:prstGeom>
          <a:noFill/>
        </p:spPr>
        <p:txBody>
          <a:bodyPr wrap="square">
            <a:spAutoFit/>
          </a:bodyPr>
          <a:lstStyle/>
          <a:p>
            <a:pPr algn="l"/>
            <a:r>
              <a:rPr sz="1800" b="1">
                <a:solidFill>
                  <a:srgbClr val="1F4A3A"/>
                </a:solidFill>
                <a:latin typeface="Calibri"/>
              </a:rPr>
              <a:t>Einstieg   189 €</a:t>
            </a:r>
          </a:p>
        </p:txBody>
      </p:sp>
      <p:sp>
        <p:nvSpPr>
          <p:cNvPr id="8" name="TextBox 7"/>
          <p:cNvSpPr txBox="1"/>
          <p:nvPr/>
        </p:nvSpPr>
        <p:spPr>
          <a:xfrm>
            <a:off x="896112" y="1847088"/>
            <a:ext cx="3154680" cy="2487168"/>
          </a:xfrm>
          <a:prstGeom prst="rect">
            <a:avLst/>
          </a:prstGeom>
          <a:noFill/>
        </p:spPr>
        <p:txBody>
          <a:bodyPr wrap="square">
            <a:spAutoFit/>
          </a:bodyPr>
          <a:lstStyle/>
          <a:p>
            <a:pPr algn="l"/>
            <a:r>
              <a:rPr sz="1400" b="0">
                <a:solidFill>
                  <a:srgbClr val="1A1A1A"/>
                </a:solidFill>
                <a:latin typeface="Calibri"/>
              </a:rPr>
              <a:t>1 Linie, bis 300 Gespräche/Monat. Termine, Feiertage, Notfall-Triage, Protokoll, 21 Tage testen.</a:t>
            </a:r>
          </a:p>
        </p:txBody>
      </p:sp>
      <p:sp>
        <p:nvSpPr>
          <p:cNvPr id="9" name="Rounded Rectangle 8"/>
          <p:cNvSpPr/>
          <p:nvPr/>
        </p:nvSpPr>
        <p:spPr>
          <a:xfrm>
            <a:off x="4343400" y="1371600"/>
            <a:ext cx="3520440" cy="3108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71600"/>
            <a:ext cx="73152" cy="3108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1517904"/>
            <a:ext cx="3154680" cy="365760"/>
          </a:xfrm>
          <a:prstGeom prst="rect">
            <a:avLst/>
          </a:prstGeom>
          <a:noFill/>
        </p:spPr>
        <p:txBody>
          <a:bodyPr wrap="square">
            <a:spAutoFit/>
          </a:bodyPr>
          <a:lstStyle/>
          <a:p>
            <a:pPr algn="l"/>
            <a:r>
              <a:rPr sz="1800" b="1">
                <a:solidFill>
                  <a:srgbClr val="1F4A3A"/>
                </a:solidFill>
                <a:latin typeface="Calibri"/>
              </a:rPr>
              <a:t>Ordination   349 €</a:t>
            </a:r>
          </a:p>
        </p:txBody>
      </p:sp>
      <p:sp>
        <p:nvSpPr>
          <p:cNvPr id="12" name="TextBox 11"/>
          <p:cNvSpPr txBox="1"/>
          <p:nvPr/>
        </p:nvSpPr>
        <p:spPr>
          <a:xfrm>
            <a:off x="4599432" y="1847088"/>
            <a:ext cx="3154680" cy="2487168"/>
          </a:xfrm>
          <a:prstGeom prst="rect">
            <a:avLst/>
          </a:prstGeom>
          <a:noFill/>
        </p:spPr>
        <p:txBody>
          <a:bodyPr wrap="square">
            <a:spAutoFit/>
          </a:bodyPr>
          <a:lstStyle/>
          <a:p>
            <a:pPr algn="l"/>
            <a:r>
              <a:rPr sz="1400" b="0">
                <a:solidFill>
                  <a:srgbClr val="1A1A1A"/>
                </a:solidFill>
                <a:latin typeface="Calibri"/>
              </a:rPr>
              <a:t>Unbegrenzte Anrufe, WhatsApp, Widget, PMS, Impf-/Chip-Erinnerung, Praxistafel, DE+EN. Am häufigsten.</a:t>
            </a:r>
          </a:p>
        </p:txBody>
      </p:sp>
      <p:sp>
        <p:nvSpPr>
          <p:cNvPr id="13" name="Rounded Rectangle 12"/>
          <p:cNvSpPr/>
          <p:nvPr/>
        </p:nvSpPr>
        <p:spPr>
          <a:xfrm>
            <a:off x="8046720" y="1371600"/>
            <a:ext cx="3520440" cy="3108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73152" cy="310896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517904"/>
            <a:ext cx="3154680" cy="365760"/>
          </a:xfrm>
          <a:prstGeom prst="rect">
            <a:avLst/>
          </a:prstGeom>
          <a:noFill/>
        </p:spPr>
        <p:txBody>
          <a:bodyPr wrap="square">
            <a:spAutoFit/>
          </a:bodyPr>
          <a:lstStyle/>
          <a:p>
            <a:pPr algn="l"/>
            <a:r>
              <a:rPr sz="1800" b="1">
                <a:solidFill>
                  <a:srgbClr val="1F4A3A"/>
                </a:solidFill>
                <a:latin typeface="Calibri"/>
              </a:rPr>
              <a:t>Klinik   629 €</a:t>
            </a:r>
          </a:p>
        </p:txBody>
      </p:sp>
      <p:sp>
        <p:nvSpPr>
          <p:cNvPr id="16" name="TextBox 15"/>
          <p:cNvSpPr txBox="1"/>
          <p:nvPr/>
        </p:nvSpPr>
        <p:spPr>
          <a:xfrm>
            <a:off x="8302752" y="1847088"/>
            <a:ext cx="3154680" cy="2487168"/>
          </a:xfrm>
          <a:prstGeom prst="rect">
            <a:avLst/>
          </a:prstGeom>
          <a:noFill/>
        </p:spPr>
        <p:txBody>
          <a:bodyPr wrap="square">
            <a:spAutoFit/>
          </a:bodyPr>
          <a:lstStyle/>
          <a:p>
            <a:pPr algn="l"/>
            <a:r>
              <a:rPr sz="1400" b="0">
                <a:solidFill>
                  <a:srgbClr val="1A1A1A"/>
                </a:solidFill>
                <a:latin typeface="Calibri"/>
              </a:rPr>
              <a:t>Mehrere Standorte und Nummern, Schichtkalender, Auswertung, eigene Begrüßung, Ansprechpartner Wien.</a:t>
            </a:r>
          </a:p>
        </p:txBody>
      </p:sp>
      <p:sp>
        <p:nvSpPr>
          <p:cNvPr id="17" name="TextBox 16"/>
          <p:cNvSpPr txBox="1"/>
          <p:nvPr/>
        </p:nvSpPr>
        <p:spPr>
          <a:xfrm>
            <a:off x="640080" y="4709160"/>
            <a:ext cx="10972800" cy="1371600"/>
          </a:xfrm>
          <a:prstGeom prst="rect">
            <a:avLst/>
          </a:prstGeom>
          <a:noFill/>
        </p:spPr>
        <p:txBody>
          <a:bodyPr wrap="square">
            <a:spAutoFit/>
          </a:bodyPr>
          <a:lstStyle/>
          <a:p>
            <a:pPr algn="l"/>
            <a:r>
              <a:rPr sz="1400" b="0">
                <a:solidFill>
                  <a:srgbClr val="5C645E"/>
                </a:solidFill>
                <a:latin typeface="Calibri"/>
              </a:rPr>
              <a:t>Sonderedition Akte: +149 € netto / Monat, nur mit Ordination oder Klinik.
Einrichtung 0 €. Monatlich kündbar. Rechnung mit UID, Zahlungsziel 14 Tage, österreichisches Konto.
Die Preisseite verkauft den Zielzustand (PMS-API, WhatsApp Business, Englisch). Was davon schon klickbar ist, steht auf der nächsten Folie.</a:t>
            </a:r>
          </a:p>
        </p:txBody>
      </p:sp>
      <p:sp>
        <p:nvSpPr>
          <p:cNvPr id="18" name="Rectangle 17"/>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20" name="TextBox 19"/>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EHRLICH ZUM KOLLEGEN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Live heute  vs.  noch nicht verdrahtet</a:t>
            </a:r>
          </a:p>
        </p:txBody>
      </p:sp>
      <p:sp>
        <p:nvSpPr>
          <p:cNvPr id="5" name="Rounded Rectangle 4"/>
          <p:cNvSpPr/>
          <p:nvPr/>
        </p:nvSpPr>
        <p:spPr>
          <a:xfrm>
            <a:off x="640080" y="1371600"/>
            <a:ext cx="530352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45720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17904"/>
            <a:ext cx="4937760" cy="365760"/>
          </a:xfrm>
          <a:prstGeom prst="rect">
            <a:avLst/>
          </a:prstGeom>
          <a:noFill/>
        </p:spPr>
        <p:txBody>
          <a:bodyPr wrap="square">
            <a:spAutoFit/>
          </a:bodyPr>
          <a:lstStyle/>
          <a:p>
            <a:pPr algn="l"/>
            <a:r>
              <a:rPr sz="1800" b="1">
                <a:solidFill>
                  <a:srgbClr val="1F4A3A"/>
                </a:solidFill>
                <a:latin typeface="Calibri"/>
              </a:rPr>
              <a:t>Kann man zeigen</a:t>
            </a:r>
          </a:p>
        </p:txBody>
      </p:sp>
      <p:sp>
        <p:nvSpPr>
          <p:cNvPr id="8" name="TextBox 7"/>
          <p:cNvSpPr txBox="1"/>
          <p:nvPr/>
        </p:nvSpPr>
        <p:spPr>
          <a:xfrm>
            <a:off x="896112" y="1847088"/>
            <a:ext cx="4937760" cy="3950208"/>
          </a:xfrm>
          <a:prstGeom prst="rect">
            <a:avLst/>
          </a:prstGeom>
          <a:noFill/>
        </p:spPr>
        <p:txBody>
          <a:bodyPr wrap="square">
            <a:spAutoFit/>
          </a:bodyPr>
          <a:lstStyle/>
          <a:p>
            <a:pPr algn="l"/>
            <a:r>
              <a:rPr sz="1500" b="0">
                <a:solidFill>
                  <a:srgbClr val="1A1A1A"/>
                </a:solidFill>
                <a:latin typeface="Calibri"/>
              </a:rPr>
              <a:t>Gespräch · Trainieren · Demo-Huber · Registrieren und Praxistafel · Einstellungen steuern Silvia · öffentliche /leitung · Anrufe mit Transkript · Kalender bestätigen/absagen/Walk-in · SMS und WhatsApp an die Halterin · Akte mit Name und Handy aus dem Satz · Notfall: Nachtdienst anrufen (tel / wa.me) · Protokoll per wa.me und mailto (kein Versand) · AT-Sprache, Zeiten, Feiertage · Avatare.</a:t>
            </a:r>
          </a:p>
        </p:txBody>
      </p:sp>
      <p:sp>
        <p:nvSpPr>
          <p:cNvPr id="9" name="Rounded Rectangle 8"/>
          <p:cNvSpPr/>
          <p:nvPr/>
        </p:nvSpPr>
        <p:spPr>
          <a:xfrm>
            <a:off x="6263640" y="1371600"/>
            <a:ext cx="530352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371600"/>
            <a:ext cx="73152" cy="45720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17904"/>
            <a:ext cx="4937760" cy="365760"/>
          </a:xfrm>
          <a:prstGeom prst="rect">
            <a:avLst/>
          </a:prstGeom>
          <a:noFill/>
        </p:spPr>
        <p:txBody>
          <a:bodyPr wrap="square">
            <a:spAutoFit/>
          </a:bodyPr>
          <a:lstStyle/>
          <a:p>
            <a:pPr algn="l"/>
            <a:r>
              <a:rPr sz="1800" b="1">
                <a:solidFill>
                  <a:srgbClr val="1F4A3A"/>
                </a:solidFill>
                <a:latin typeface="Calibri"/>
              </a:rPr>
              <a:t>Braucht Keys / kommt als Nächstes</a:t>
            </a:r>
          </a:p>
        </p:txBody>
      </p:sp>
      <p:sp>
        <p:nvSpPr>
          <p:cNvPr id="12" name="TextBox 11"/>
          <p:cNvSpPr txBox="1"/>
          <p:nvPr/>
        </p:nvSpPr>
        <p:spPr>
          <a:xfrm>
            <a:off x="6519672" y="1847088"/>
            <a:ext cx="4937760" cy="3950208"/>
          </a:xfrm>
          <a:prstGeom prst="rect">
            <a:avLst/>
          </a:prstGeom>
          <a:noFill/>
        </p:spPr>
        <p:txBody>
          <a:bodyPr wrap="square">
            <a:spAutoFit/>
          </a:bodyPr>
          <a:lstStyle/>
          <a:p>
            <a:pPr algn="l"/>
            <a:r>
              <a:rPr sz="1500" b="0">
                <a:solidFill>
                  <a:srgbClr val="1A1A1A"/>
                </a:solidFill>
                <a:latin typeface="Calibri"/>
              </a:rPr>
              <a:t>Echte PSTN-Nummer (Twilio o. ä.) · WhatsApp Business API · SMTP · PMS-Live-Sync (vetera, easyVET, …) · Web-Buchungswidget · SMS-Bestätigung · Englisch am Apparat · mehrere Standorte · dauerhaftes Postgres (DATABASE_URL), sonst löscht ein Restart die Testordination.</a:t>
            </a:r>
          </a:p>
        </p:txBody>
      </p:sp>
      <p:sp>
        <p:nvSpPr>
          <p:cNvPr id="13" name="Rectangle 12"/>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5" name="TextBox 14"/>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SELBST DURCHKLICKEN</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Zehn Minuten für den Kollegen</a:t>
            </a:r>
          </a:p>
        </p:txBody>
      </p:sp>
      <p:sp>
        <p:nvSpPr>
          <p:cNvPr id="5" name="TextBox 4"/>
          <p:cNvSpPr txBox="1"/>
          <p:nvPr/>
        </p:nvSpPr>
        <p:spPr>
          <a:xfrm>
            <a:off x="640080" y="1353312"/>
            <a:ext cx="10972800" cy="4846320"/>
          </a:xfrm>
          <a:prstGeom prst="rect">
            <a:avLst/>
          </a:prstGeom>
          <a:noFill/>
        </p:spPr>
        <p:txBody>
          <a:bodyPr wrap="square">
            <a:spAutoFit/>
          </a:bodyPr>
          <a:lstStyle/>
          <a:p>
            <a:pPr>
              <a:spcAft>
                <a:spcPts val="1000"/>
              </a:spcAft>
            </a:pPr>
            <a:r>
              <a:rPr sz="1500" b="0">
                <a:solidFill>
                  <a:srgbClr val="1A1A1A"/>
                </a:solidFill>
                <a:latin typeface="Calibri"/>
              </a:rPr>
              <a:t>·  1.  Startseite öffnen. Rechts das Telefon: Anrufen. Nach Fritz fragen.</a:t>
            </a:r>
          </a:p>
          <a:p>
            <a:pPr>
              <a:spcAft>
                <a:spcPts val="1000"/>
              </a:spcAft>
            </a:pPr>
            <a:r>
              <a:rPr sz="1500" b="0">
                <a:solidFill>
                  <a:srgbClr val="1A1A1A"/>
                </a:solidFill>
                <a:latin typeface="Calibri"/>
              </a:rPr>
              <a:t>·  2.  Umschalten auf Trainieren. Sagen: „Mittwoch nur Kastrationen.“ Auflegen.</a:t>
            </a:r>
          </a:p>
          <a:p>
            <a:pPr>
              <a:spcAft>
                <a:spcPts val="1000"/>
              </a:spcAft>
            </a:pPr>
            <a:r>
              <a:rPr sz="1500" b="0">
                <a:solidFill>
                  <a:srgbClr val="1A1A1A"/>
                </a:solidFill>
                <a:latin typeface="Calibri"/>
              </a:rPr>
              <a:t>·  3.  Wieder Anrufen: „Was gilt mittwochs?“ – sie muss es wissen.</a:t>
            </a:r>
          </a:p>
          <a:p>
            <a:pPr>
              <a:spcAft>
                <a:spcPts val="1000"/>
              </a:spcAft>
            </a:pPr>
            <a:r>
              <a:rPr sz="1500" b="0">
                <a:solidFill>
                  <a:srgbClr val="1A1A1A"/>
                </a:solidFill>
                <a:latin typeface="Calibri"/>
              </a:rPr>
              <a:t>·  4.  /demo öffnen: Praxistafel der Huber-Sandbox (localStorage).</a:t>
            </a:r>
          </a:p>
          <a:p>
            <a:pPr>
              <a:spcAft>
                <a:spcPts val="1000"/>
              </a:spcAft>
            </a:pPr>
            <a:r>
              <a:rPr sz="1500" b="0">
                <a:solidFill>
                  <a:srgbClr val="1A1A1A"/>
                </a:solidFill>
                <a:latin typeface="Calibri"/>
              </a:rPr>
              <a:t>·  5.  /registrieren: eigene Ordination. Dann /app – leere Tafel, eigene Silvia.</a:t>
            </a:r>
          </a:p>
          <a:p>
            <a:pPr>
              <a:spcAft>
                <a:spcPts val="1000"/>
              </a:spcAft>
            </a:pPr>
            <a:r>
              <a:rPr sz="1500" b="0">
                <a:solidFill>
                  <a:srgbClr val="1A1A1A"/>
                </a:solidFill>
                <a:latin typeface="Calibri"/>
              </a:rPr>
              <a:t>·  6.  /app/einstellungen: Zeiten und Nachtdienst ändern, Leitungslink kopieren.</a:t>
            </a:r>
          </a:p>
          <a:p>
            <a:pPr>
              <a:spcAft>
                <a:spcPts val="1000"/>
              </a:spcAft>
            </a:pPr>
            <a:r>
              <a:rPr sz="1500" b="0">
                <a:solidFill>
                  <a:srgbClr val="1A1A1A"/>
                </a:solidFill>
                <a:latin typeface="Calibri"/>
              </a:rPr>
              <a:t>·  7.  Abmelden. Den Link /leitung/… als Anrufer öffnen. Etwas sagen. Wieder anmelden: der Anruf liegt auf der Tafel.</a:t>
            </a:r>
          </a:p>
          <a:p>
            <a:pPr>
              <a:spcAft>
                <a:spcPts val="1000"/>
              </a:spcAft>
            </a:pPr>
            <a:r>
              <a:rPr sz="1500" b="0">
                <a:solidFill>
                  <a:srgbClr val="1A1A1A"/>
                </a:solidFill>
                <a:latin typeface="Calibri"/>
              </a:rPr>
              <a:t>·  8.  /app/kalender: Walk-in legen, bestätigen. „SMS an Halterin“ und „WhatsApp an Halterin“ (öffnet Entwurf, sendet nicht).</a:t>
            </a:r>
          </a:p>
          <a:p>
            <a:pPr>
              <a:spcAft>
                <a:spcPts val="1000"/>
              </a:spcAft>
            </a:pPr>
            <a:r>
              <a:rPr sz="1500" b="0">
                <a:solidFill>
                  <a:srgbClr val="1A1A1A"/>
                </a:solidFill>
                <a:latin typeface="Calibri"/>
              </a:rPr>
              <a:t>·  9.  /app/notfall: hinterlegten Nachtdienst anrufen / WhatsApp. /app/nachrichten: wa.me und mailto intern.</a:t>
            </a:r>
          </a:p>
          <a:p>
            <a:pPr>
              <a:spcAft>
                <a:spcPts val="1000"/>
              </a:spcAft>
            </a:pPr>
            <a:r>
              <a:rPr sz="1500" b="0">
                <a:solidFill>
                  <a:srgbClr val="1A1A1A"/>
                </a:solidFill>
                <a:latin typeface="Calibri"/>
              </a:rPr>
              <a:t>·  10. /preise nur zum Lesen. Ohne XAI_API_KEY reicht Tippen. VITE_AUTH_ENABLED bleibt false.</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9144000" cy="320040"/>
          </a:xfrm>
          <a:prstGeom prst="rect">
            <a:avLst/>
          </a:prstGeom>
          <a:noFill/>
        </p:spPr>
        <p:txBody>
          <a:bodyPr wrap="square">
            <a:spAutoFit/>
          </a:bodyPr>
          <a:lstStyle/>
          <a:p>
            <a:pPr algn="l"/>
            <a:r>
              <a:rPr sz="1200" b="1">
                <a:solidFill>
                  <a:srgbClr val="1F4A3A"/>
                </a:solidFill>
                <a:latin typeface="Calibri"/>
              </a:rPr>
              <a:t>LANDKARTE</a:t>
            </a:r>
          </a:p>
        </p:txBody>
      </p:sp>
      <p:sp>
        <p:nvSpPr>
          <p:cNvPr id="4" name="TextBox 3"/>
          <p:cNvSpPr txBox="1"/>
          <p:nvPr/>
        </p:nvSpPr>
        <p:spPr>
          <a:xfrm>
            <a:off x="640080" y="594360"/>
            <a:ext cx="10972800" cy="640080"/>
          </a:xfrm>
          <a:prstGeom prst="rect">
            <a:avLst/>
          </a:prstGeom>
          <a:noFill/>
        </p:spPr>
        <p:txBody>
          <a:bodyPr wrap="square">
            <a:spAutoFit/>
          </a:bodyPr>
          <a:lstStyle/>
          <a:p>
            <a:pPr algn="l"/>
            <a:r>
              <a:rPr sz="3200" b="1">
                <a:solidFill>
                  <a:srgbClr val="1F4A3A"/>
                </a:solidFill>
                <a:latin typeface="Georgia"/>
              </a:rPr>
              <a:t>Routen, die zählen</a:t>
            </a:r>
          </a:p>
        </p:txBody>
      </p:sp>
      <p:sp>
        <p:nvSpPr>
          <p:cNvPr id="5" name="TextBox 4"/>
          <p:cNvSpPr txBox="1"/>
          <p:nvPr/>
        </p:nvSpPr>
        <p:spPr>
          <a:xfrm>
            <a:off x="640080" y="1353312"/>
            <a:ext cx="10972800" cy="4937760"/>
          </a:xfrm>
          <a:prstGeom prst="rect">
            <a:avLst/>
          </a:prstGeom>
          <a:noFill/>
        </p:spPr>
        <p:txBody>
          <a:bodyPr wrap="square">
            <a:spAutoFit/>
          </a:bodyPr>
          <a:lstStyle/>
          <a:p>
            <a:pPr>
              <a:spcAft>
                <a:spcPts val="900"/>
              </a:spcAft>
            </a:pPr>
            <a:r>
              <a:rPr sz="1600" b="1">
                <a:solidFill>
                  <a:srgbClr val="1F4A3A"/>
                </a:solidFill>
                <a:latin typeface="Calibri"/>
              </a:rPr>
              <a:t>/     </a:t>
            </a:r>
            <a:r>
              <a:rPr sz="1600" b="0">
                <a:solidFill>
                  <a:srgbClr val="1A1A1A"/>
                </a:solidFill>
                <a:latin typeface="Calibri"/>
              </a:rPr>
              <a:t>Verkauf + echte Demo-Leitung (Anrufen / Trainieren)</a:t>
            </a:r>
          </a:p>
          <a:p>
            <a:pPr>
              <a:spcAft>
                <a:spcPts val="900"/>
              </a:spcAft>
            </a:pPr>
            <a:r>
              <a:rPr sz="1600" b="1">
                <a:solidFill>
                  <a:srgbClr val="1F4A3A"/>
                </a:solidFill>
                <a:latin typeface="Calibri"/>
              </a:rPr>
              <a:t>/sprechen     </a:t>
            </a:r>
            <a:r>
              <a:rPr sz="1600" b="0">
                <a:solidFill>
                  <a:srgbClr val="1A1A1A"/>
                </a:solidFill>
                <a:latin typeface="Calibri"/>
              </a:rPr>
              <a:t>Volle Leitung; eingeloggt = Tenant, sonst Huber</a:t>
            </a:r>
          </a:p>
          <a:p>
            <a:pPr>
              <a:spcAft>
                <a:spcPts val="900"/>
              </a:spcAft>
            </a:pPr>
            <a:r>
              <a:rPr sz="1600" b="1">
                <a:solidFill>
                  <a:srgbClr val="1F4A3A"/>
                </a:solidFill>
                <a:latin typeface="Calibri"/>
              </a:rPr>
              <a:t>/leitung/$slug     </a:t>
            </a:r>
            <a:r>
              <a:rPr sz="1600" b="0">
                <a:solidFill>
                  <a:srgbClr val="1A1A1A"/>
                </a:solidFill>
                <a:latin typeface="Calibri"/>
              </a:rPr>
              <a:t>Öffentliche Anrufer-URL der Ordination</a:t>
            </a:r>
          </a:p>
          <a:p>
            <a:pPr>
              <a:spcAft>
                <a:spcPts val="900"/>
              </a:spcAft>
            </a:pPr>
            <a:r>
              <a:rPr sz="1600" b="1">
                <a:solidFill>
                  <a:srgbClr val="1F4A3A"/>
                </a:solidFill>
                <a:latin typeface="Calibri"/>
              </a:rPr>
              <a:t>/registrieren  /login     </a:t>
            </a:r>
            <a:r>
              <a:rPr sz="1600" b="0">
                <a:solidFill>
                  <a:srgbClr val="1A1A1A"/>
                </a:solidFill>
                <a:latin typeface="Calibri"/>
              </a:rPr>
              <a:t>Konto. Session-Cookie silvia.session</a:t>
            </a:r>
          </a:p>
          <a:p>
            <a:pPr>
              <a:spcAft>
                <a:spcPts val="900"/>
              </a:spcAft>
            </a:pPr>
            <a:r>
              <a:rPr sz="1600" b="1">
                <a:solidFill>
                  <a:srgbClr val="1F4A3A"/>
                </a:solidFill>
                <a:latin typeface="Calibri"/>
              </a:rPr>
              <a:t>/app/…     </a:t>
            </a:r>
            <a:r>
              <a:rPr sz="1600" b="0">
                <a:solidFill>
                  <a:srgbClr val="1A1A1A"/>
                </a:solidFill>
                <a:latin typeface="Calibri"/>
              </a:rPr>
              <a:t>Heute, Anrufe, Kalender, Protokoll, Notfall, Akte, Einstellungen</a:t>
            </a:r>
          </a:p>
          <a:p>
            <a:pPr>
              <a:spcAft>
                <a:spcPts val="900"/>
              </a:spcAft>
            </a:pPr>
            <a:r>
              <a:rPr sz="1600" b="1">
                <a:solidFill>
                  <a:srgbClr val="1F4A3A"/>
                </a:solidFill>
                <a:latin typeface="Calibri"/>
              </a:rPr>
              <a:t>/demo/…     </a:t>
            </a:r>
            <a:r>
              <a:rPr sz="1600" b="0">
                <a:solidFill>
                  <a:srgbClr val="1A1A1A"/>
                </a:solidFill>
                <a:latin typeface="Calibri"/>
              </a:rPr>
              <a:t>Huber-Sandbox, nicht die Live-Tafel</a:t>
            </a:r>
          </a:p>
          <a:p>
            <a:pPr>
              <a:spcAft>
                <a:spcPts val="900"/>
              </a:spcAft>
            </a:pPr>
            <a:r>
              <a:rPr sz="1600" b="1">
                <a:solidFill>
                  <a:srgbClr val="1F4A3A"/>
                </a:solidFill>
                <a:latin typeface="Calibri"/>
              </a:rPr>
              <a:t>/preise  /werkzeuge     </a:t>
            </a:r>
            <a:r>
              <a:rPr sz="1600" b="0">
                <a:solidFill>
                  <a:srgbClr val="1A1A1A"/>
                </a:solidFill>
                <a:latin typeface="Calibri"/>
              </a:rPr>
              <a:t>Tarife, Killer-Features, Chip-Suche</a:t>
            </a:r>
          </a:p>
          <a:p>
            <a:pPr>
              <a:spcAft>
                <a:spcPts val="900"/>
              </a:spcAft>
            </a:pPr>
            <a:r>
              <a:rPr sz="1600" b="1">
                <a:solidFill>
                  <a:srgbClr val="1F4A3A"/>
                </a:solidFill>
                <a:latin typeface="Calibri"/>
              </a:rPr>
              <a:t>Dev     </a:t>
            </a:r>
            <a:r>
              <a:rPr sz="1600" b="0">
                <a:solidFill>
                  <a:srgbClr val="1A1A1A"/>
                </a:solidFill>
                <a:latin typeface="Calibri"/>
              </a:rPr>
              <a:t>npm run dev → Port 8080. Neue migrations/*.sql: Vite neu starten.</a:t>
            </a:r>
          </a:p>
        </p:txBody>
      </p:sp>
      <p:sp>
        <p:nvSpPr>
          <p:cNvPr id="6" name="Rectangle 5"/>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8" name="TextBox 7"/>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3D8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058400" cy="365760"/>
          </a:xfrm>
          <a:prstGeom prst="rect">
            <a:avLst/>
          </a:prstGeom>
          <a:noFill/>
        </p:spPr>
        <p:txBody>
          <a:bodyPr wrap="square">
            <a:spAutoFit/>
          </a:bodyPr>
          <a:lstStyle/>
          <a:p>
            <a:pPr algn="l"/>
            <a:r>
              <a:rPr sz="1300" b="1">
                <a:solidFill>
                  <a:srgbClr val="3D8B6E"/>
                </a:solidFill>
                <a:latin typeface="Calibri"/>
              </a:rPr>
              <a:t>NÄCHSTER SCHRITT</a:t>
            </a:r>
          </a:p>
        </p:txBody>
      </p:sp>
      <p:sp>
        <p:nvSpPr>
          <p:cNvPr id="6" name="TextBox 5"/>
          <p:cNvSpPr txBox="1"/>
          <p:nvPr/>
        </p:nvSpPr>
        <p:spPr>
          <a:xfrm>
            <a:off x="640080" y="2286000"/>
            <a:ext cx="10972800" cy="1463040"/>
          </a:xfrm>
          <a:prstGeom prst="rect">
            <a:avLst/>
          </a:prstGeom>
          <a:noFill/>
        </p:spPr>
        <p:txBody>
          <a:bodyPr wrap="square">
            <a:spAutoFit/>
          </a:bodyPr>
          <a:lstStyle/>
          <a:p>
            <a:pPr algn="l"/>
            <a:r>
              <a:rPr sz="3600" b="1">
                <a:solidFill>
                  <a:srgbClr val="FFFFFF"/>
                </a:solidFill>
                <a:latin typeface="Georgia"/>
              </a:rPr>
              <a:t>21 Tage. Eine Testnummer.
Kein Vertrag.</a:t>
            </a:r>
          </a:p>
        </p:txBody>
      </p:sp>
      <p:sp>
        <p:nvSpPr>
          <p:cNvPr id="7" name="TextBox 6"/>
          <p:cNvSpPr txBox="1"/>
          <p:nvPr/>
        </p:nvSpPr>
        <p:spPr>
          <a:xfrm>
            <a:off x="640080" y="4114800"/>
            <a:ext cx="10515600" cy="1463040"/>
          </a:xfrm>
          <a:prstGeom prst="rect">
            <a:avLst/>
          </a:prstGeom>
          <a:noFill/>
        </p:spPr>
        <p:txBody>
          <a:bodyPr wrap="square">
            <a:spAutoFit/>
          </a:bodyPr>
          <a:lstStyle/>
          <a:p>
            <a:pPr algn="l"/>
            <a:r>
              <a:rPr sz="1800" b="0">
                <a:solidFill>
                  <a:srgbClr val="F6F1E8"/>
                </a:solidFill>
                <a:latin typeface="Calibri"/>
              </a:rPr>
              <a:t>Kollege: einmal den Klickpfad gehen, dann sagen, welches Loch als nächstes weh tut –
PSTN, WhatsApp Business, oder PMS. Die Rezeption ist schon da.</a:t>
            </a:r>
          </a:p>
        </p:txBody>
      </p:sp>
      <p:sp>
        <p:nvSpPr>
          <p:cNvPr id="8" name="TextBox 7"/>
          <p:cNvSpPr txBox="1"/>
          <p:nvPr/>
        </p:nvSpPr>
        <p:spPr>
          <a:xfrm>
            <a:off x="640080" y="5943600"/>
            <a:ext cx="10058400" cy="365760"/>
          </a:xfrm>
          <a:prstGeom prst="rect">
            <a:avLst/>
          </a:prstGeom>
          <a:noFill/>
        </p:spPr>
        <p:txBody>
          <a:bodyPr wrap="square">
            <a:spAutoFit/>
          </a:bodyPr>
          <a:lstStyle/>
          <a:p>
            <a:pPr algn="l"/>
            <a:r>
              <a:rPr sz="1400" b="0">
                <a:solidFill>
                  <a:srgbClr val="3D8B6E"/>
                </a:solidFill>
                <a:latin typeface="Calibri"/>
              </a:rPr>
              <a:t>silvia  ·  Wien  ·  Einstieg ab 189 € netto / Monat</a:t>
            </a:r>
          </a:p>
        </p:txBody>
      </p:sp>
      <p:sp>
        <p:nvSpPr>
          <p:cNvPr id="9" name="Rectangle 8"/>
          <p:cNvSpPr/>
          <p:nvPr/>
        </p:nvSpPr>
        <p:spPr>
          <a:xfrm>
            <a:off x="0" y="6601968"/>
            <a:ext cx="12191695" cy="256032"/>
          </a:xfrm>
          <a:prstGeom prst="rect">
            <a:avLst/>
          </a:prstGeom>
          <a:solidFill>
            <a:srgbClr val="1F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601968"/>
            <a:ext cx="9144000" cy="256032"/>
          </a:xfrm>
          <a:prstGeom prst="rect">
            <a:avLst/>
          </a:prstGeom>
          <a:noFill/>
        </p:spPr>
        <p:txBody>
          <a:bodyPr wrap="square">
            <a:spAutoFit/>
          </a:bodyPr>
          <a:lstStyle/>
          <a:p>
            <a:pPr algn="l"/>
            <a:r>
              <a:rPr sz="1100" b="0">
                <a:solidFill>
                  <a:srgbClr val="FFFFFF"/>
                </a:solidFill>
                <a:latin typeface="Calibri"/>
              </a:rPr>
              <a:t>Silvia  ·  internes Pitch-Deck  ·  vertraulich</a:t>
            </a:r>
          </a:p>
        </p:txBody>
      </p:sp>
      <p:sp>
        <p:nvSpPr>
          <p:cNvPr id="11" name="TextBox 10"/>
          <p:cNvSpPr txBox="1"/>
          <p:nvPr/>
        </p:nvSpPr>
        <p:spPr>
          <a:xfrm>
            <a:off x="10607040" y="6601968"/>
            <a:ext cx="1097280" cy="256032"/>
          </a:xfrm>
          <a:prstGeom prst="rect">
            <a:avLst/>
          </a:prstGeom>
          <a:noFill/>
        </p:spPr>
        <p:txBody>
          <a:bodyPr wrap="square">
            <a:spAutoFit/>
          </a:bodyPr>
          <a:lstStyle/>
          <a:p>
            <a:pPr algn="r"/>
            <a:r>
              <a:rPr sz="1100" b="0">
                <a:solidFill>
                  <a:srgbClr val="FFFFFF"/>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