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ea023491f3b4042" /><Relationship Type="http://schemas.openxmlformats.org/officeDocument/2006/relationships/extended-properties" Target="/docProps/app.xml" Id="R6b5635683cd14b8c" /><Relationship Type="http://schemas.openxmlformats.org/officeDocument/2006/relationships/officeDocument" Target="/ppt/presentation.xml" Id="Rf0e3f22ea0c94ce7" /></Relationships>
</file>

<file path=ppt/presentation.xml><?xml version="1.0" encoding="utf-8"?>
<p:presentation xmlns:p="http://schemas.openxmlformats.org/presentationml/2006/main">
  <p:sldMasterIdLst>
    <p:sldMasterId xmlns:r="http://schemas.openxmlformats.org/officeDocument/2006/relationships" id="2147483648" r:id="Rfb7b9ccd0b0c48c5"/>
  </p:sldMasterIdLst>
  <p:notesMasterIdLst>
    <p:notesMasterId xmlns:r="http://schemas.openxmlformats.org/officeDocument/2006/relationships" r:id="R444c3e132c094344"/>
  </p:notesMasterIdLst>
  <p:sldIdLst>
    <p:sldId xmlns:r="http://schemas.openxmlformats.org/officeDocument/2006/relationships" id="256" r:id="R96e430534f44444e"/>
    <p:sldId xmlns:r="http://schemas.openxmlformats.org/officeDocument/2006/relationships" id="257" r:id="Rfdd10beffc1c4b92"/>
    <p:sldId xmlns:r="http://schemas.openxmlformats.org/officeDocument/2006/relationships" id="258" r:id="Re69ba1dc5bff4d2e"/>
    <p:sldId xmlns:r="http://schemas.openxmlformats.org/officeDocument/2006/relationships" id="259" r:id="R299df77be7f146ef"/>
    <p:sldId xmlns:r="http://schemas.openxmlformats.org/officeDocument/2006/relationships" id="260" r:id="R03f96bb4fc044338"/>
    <p:sldId xmlns:r="http://schemas.openxmlformats.org/officeDocument/2006/relationships" id="261" r:id="R6d3d9550d52c4e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2e1320bf8e4f47" /><Relationship Type="http://schemas.openxmlformats.org/officeDocument/2006/relationships/slideMaster" Target="/ppt/slideMasters/slideMaster1.xml" Id="Rfb7b9ccd0b0c48c5" /><Relationship Type="http://schemas.openxmlformats.org/officeDocument/2006/relationships/notesMaster" Target="/ppt/notesMasters/notesMaster1.xml" Id="R444c3e132c094344" /><Relationship Type="http://schemas.openxmlformats.org/officeDocument/2006/relationships/presProps" Target="/ppt/presProps.xml" Id="Rca974e2bf8ba481c" /><Relationship Type="http://schemas.openxmlformats.org/officeDocument/2006/relationships/tableStyles" Target="/ppt/tableStyles.xml" Id="R93d9e8d868294a95" /><Relationship Type="http://schemas.openxmlformats.org/officeDocument/2006/relationships/slide" Target="/ppt/slides/slide1.xml" Id="R96e430534f44444e" /><Relationship Type="http://schemas.openxmlformats.org/officeDocument/2006/relationships/slide" Target="/ppt/slides/slide2.xml" Id="Rfdd10beffc1c4b92" /><Relationship Type="http://schemas.openxmlformats.org/officeDocument/2006/relationships/slide" Target="/ppt/slides/slide3.xml" Id="Re69ba1dc5bff4d2e" /><Relationship Type="http://schemas.openxmlformats.org/officeDocument/2006/relationships/slide" Target="/ppt/slides/slide4.xml" Id="R299df77be7f146ef" /><Relationship Type="http://schemas.openxmlformats.org/officeDocument/2006/relationships/slide" Target="/ppt/slides/slide5.xml" Id="R03f96bb4fc044338" /><Relationship Type="http://schemas.openxmlformats.org/officeDocument/2006/relationships/slide" Target="/ppt/slides/slide6.xml" Id="R6d3d9550d52c4e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0e89a7e46c49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adbbd3d1064e9a" /><Relationship Type="http://schemas.openxmlformats.org/officeDocument/2006/relationships/notesMaster" Target="/ppt/notesMasters/notesMaster1.xml" Id="Rcd6ab1644ce84c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a0190be11b40d2" /><Relationship Type="http://schemas.openxmlformats.org/officeDocument/2006/relationships/notesMaster" Target="/ppt/notesMasters/notesMaster1.xml" Id="Ra672309bdea04a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44f9bc280c4d2c" /><Relationship Type="http://schemas.openxmlformats.org/officeDocument/2006/relationships/notesMaster" Target="/ppt/notesMasters/notesMaster1.xml" Id="Rcae519a38c1344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fcdf47e62345cd" /><Relationship Type="http://schemas.openxmlformats.org/officeDocument/2006/relationships/notesMaster" Target="/ppt/notesMasters/notesMaster1.xml" Id="Ree8f018315484a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09720e2ab643df" /><Relationship Type="http://schemas.openxmlformats.org/officeDocument/2006/relationships/notesMaster" Target="/ppt/notesMasters/notesMaster1.xml" Id="Rdc0204d4b84242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5818aa217d4959" /><Relationship Type="http://schemas.openxmlformats.org/officeDocument/2006/relationships/notesMaster" Target="/ppt/notesMasters/notesMaster1.xml" Id="Reed3b30f52664d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Produktpositionierung, keine Zusage einer abgeschlossenen Markteinführung. Quelle: docs/SILVIA-SPEZIFIKATION.md.</a:t>
            </a:r>
          </a:p>
          <a:p xmlns:a="http://schemas.openxmlformats.org/drawingml/2006/main">
            <a:r>
              <a:t>Stand: 14. September 2026. Zielgruppe: Gespräch mit Ordinationsleitungen und Pilotpartnern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Nutzenhypothese, keine gemessene Zeitersparnis oder zugesicherte Erreichbarkeit. Quelle: docs/SILVIA-SPEZIFIKATION.md.</a:t>
            </a:r>
          </a:p>
          <a:p xmlns:a="http://schemas.openxmlformats.org/drawingml/2006/main">
            <a:r>
              <a:t>Stand: 14. September 2026. Zielgruppe: Gespräch mit Ordinationsleitungen und Pilotpartnern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Lokale Audits c60303e und c4cd596 prüfen das Speichern von Ton und Verhalten durch die Inhaberin, die unveränderte Anzeige nach Reload, die deaktivierte Kassa-Oberfläche und die serverseitige Zurückweisung eines echten savePracticeBehavior-Requests. Der Testanruf c4cd596 prüft zusätzlich den Testmodus ohne Praxistabellenänderung und einen lokalen Kontrolllauf. Stimmabnahme, echte Hardware und österreichischer Akzent bleiben offen. Quelle: docs/SILVIA-SPEZIFIKATION.md.</a:t>
            </a:r>
          </a:p>
          <a:p xmlns:a="http://schemas.openxmlformats.org/drawingml/2006/main">
            <a:r>
              <a:t>Stand: 14. September 2026. Zielgruppe: Gespräch mit Ordinationsleitungen und Pilotpartnern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Premium verwendet eine lokale Gesprächskette. Lokale Browserprüfungen decken Unterbrechung durch ein synthetisches Mikrofonsignal, Auflegen, verspätete Antworten und den Abbruch vorgeladener Sprachstücke ab. Sie belegen weder echte Mikrofonqualität noch Telefonbetrieb oder GPT-Live-1. Kurze Textkorrekturen bis 40 Zeichen und Wiederholung nach Speicherfehler sind ebenfalls geprüft, ohne automatische Terminänderung. Live bleibt deaktiviert und ausschließlich für erfundene Demo-Inhalte vorgesehen. Der vollständige isolierte Homepage-Lauf vom 14. September bestand mit zwölf Browser-Szenarien. Preise, Antwortzeit und Produktionsfreigabe sind offen. Quellen: docs/SILVIA-SPEZIFIKATION.md, docs/HOMEPAGE-ABNAHME.md, Commits cffa9e1, 6139b51, 6e051b0.</a:t>
            </a:r>
          </a:p>
          <a:p xmlns:a="http://schemas.openxmlformats.org/drawingml/2006/main">
            <a:r>
              <a:t>Stand: 14. September 2026. Zielgruppe: Gespräch mit Ordinationsleitungen und Pilotpartnern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verbindliche Vorgabe untersagt, echte Praxisdaten an externe KI-Dienste zu geben. Die normale Silvia-Gesprächskette ist standardmäßig auf lokale Sprach- und Antwortwege gestellt. Die getrennte Live-Demo bleibt deaktiviert und darf nur mit erfundenen Inhalten getestet werden. Die vollständige technische Durchsetzung bleibt in Abnahme. Quelle: docs/SILVIA-SPEZIFIKATION.md, src/lib/alma/llm.ts, src/lib/alma/llm-runtime.ts.</a:t>
            </a:r>
          </a:p>
          <a:p xmlns:a="http://schemas.openxmlformats.org/drawingml/2006/main">
            <a:r>
              <a:t>Stand: 14. September 2026. Zielgruppe: Gespräch mit Ordinationsleitungen und Pilotpartnern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Kurze Homepage-Textkorrekturen sind synthetisch geprüft. Eine nachträgliche Datumsberichtigung wie morgen statt heute erfordert derzeit die manuelle Terminänderung auf der Tafel. Sie ist kein automatisch verschobener Termin. Offen bleiben reale Mikrofon- und Akzenttests, Gesprächsqualität und Antwortzeit. Der echte Cloud-Live-Test benötigt eine gesonderte Kostenfreigabe und ausschließlich erfundene Eingaben. Quellen: docs/SILVIA-SPEZIFIKATION.md, docs/PRODUKTIONSREIFE.md.</a:t>
            </a:r>
          </a:p>
          <a:p xmlns:a="http://schemas.openxmlformats.org/drawingml/2006/main">
            <a:r>
              <a:t>Stand: 14. September 2026. Zielgruppe: Gespräch mit Ordinationsleitungen und Pilotpartnern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15a218ab6c45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27b99e1402427e" /><Relationship Type="http://schemas.openxmlformats.org/officeDocument/2006/relationships/slideLayout" Target="/ppt/slideLayouts/slideLayout1.xml" Id="Rc5f8f329c2794f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f8f329c2794f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1075dc538014ec3" /><Relationship Type="http://schemas.openxmlformats.org/officeDocument/2006/relationships/notesSlide" Target="/ppt/notesSlides/notesSlide1.xml" Id="R3c5610917fb341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67534ab2f94a05" /><Relationship Type="http://schemas.openxmlformats.org/officeDocument/2006/relationships/notesSlide" Target="/ppt/notesSlides/notesSlide2.xml" Id="R376ffe2728b74c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c223bee41c4c7c" /><Relationship Type="http://schemas.openxmlformats.org/officeDocument/2006/relationships/notesSlide" Target="/ppt/notesSlides/notesSlide3.xml" Id="R110c16d14fb045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ddb8a3561734a29" /><Relationship Type="http://schemas.openxmlformats.org/officeDocument/2006/relationships/notesSlide" Target="/ppt/notesSlides/notesSlide4.xml" Id="Rbce09eaf25f347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440d97c04cf4988" /><Relationship Type="http://schemas.openxmlformats.org/officeDocument/2006/relationships/notesSlide" Target="/ppt/notesSlides/notesSlide5.xml" Id="R16718d1d1fd44c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65d2fd95ebd4053" /><Relationship Type="http://schemas.openxmlformats.org/officeDocument/2006/relationships/notesSlide" Target="/ppt/notesSlides/notesSlide6.xml" Id="R520ac4673f0946ea" /></Relationships>
</file>

<file path=ppt/slides/slide1.xml><?xml version="1.0" encoding="utf-8"?>
<p:sld xmlns:p="http://schemas.openxmlformats.org/presentationml/2006/main">
  <p:cSld>
    <p:bg>
      <p:bgPr>
        <a:solidFill xmlns:a="http://schemas.openxmlformats.org/drawingml/2006/main">
          <a:srgbClr val="1F4A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6665251-3F1F-4436-8073-F65E3C7F0A28}"/>
              </a:ext>
            </a:extLst>
          </p:cNvPr>
          <p:cNvSpPr>
            <a:spLocks xmlns:a="http://schemas.openxmlformats.org/drawingml/2006/main" noGrp="1"/>
          </p:cNvSpPr>
          <p:nvPr/>
        </p:nvSpPr>
        <p:spPr>
          <a:xfrm xmlns:a="http://schemas.openxmlformats.org/drawingml/2006/main">
            <a:off x="762000" y="619125"/>
            <a:ext cx="10668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650" b="1">
                <a:solidFill>
                  <a:srgbClr val="F6F1E8"/>
                </a:solidFill>
                <a:latin typeface="Arial"/>
                <a:ea typeface="Arial"/>
                <a:cs typeface="Arial"/>
              </a:defRPr>
            </a:pPr>
            <a:r>
              <a:rPr sz="4650" b="1">
                <a:solidFill>
                  <a:srgbClr val="F6F1E8"/>
                </a:solidFill>
                <a:latin typeface="Arial"/>
                <a:ea typeface="Arial"/>
                <a:cs typeface="Arial"/>
              </a:rPr>
              <a:t>Silvia.</a:t>
            </a:r>
          </a:p>
          <a:p xmlns:a="http://schemas.openxmlformats.org/drawingml/2006/main">
            <a:pPr>
              <a:buNone/>
              <a:defRPr sz="4650" b="1">
                <a:solidFill>
                  <a:srgbClr val="F6F1E8"/>
                </a:solidFill>
                <a:latin typeface="Arial"/>
                <a:ea typeface="Arial"/>
                <a:cs typeface="Arial"/>
              </a:defRPr>
            </a:pPr>
            <a:r>
              <a:rPr sz="4650" b="1">
                <a:solidFill>
                  <a:srgbClr val="F6F1E8"/>
                </a:solidFill>
                <a:latin typeface="Arial"/>
                <a:ea typeface="Arial"/>
                <a:cs typeface="Arial"/>
              </a:rPr>
              <a:t>Ein herzliches Grüß Gott</a:t>
            </a:r>
          </a:p>
          <a:p xmlns:a="http://schemas.openxmlformats.org/drawingml/2006/main">
            <a:pPr>
              <a:buNone/>
              <a:defRPr sz="4650" b="1">
                <a:solidFill>
                  <a:srgbClr val="F6F1E8"/>
                </a:solidFill>
                <a:latin typeface="Arial"/>
                <a:ea typeface="Arial"/>
                <a:cs typeface="Arial"/>
              </a:defRPr>
            </a:pPr>
            <a:r>
              <a:rPr sz="4650" b="1">
                <a:solidFill>
                  <a:srgbClr val="F6F1E8"/>
                </a:solidFill>
                <a:latin typeface="Arial"/>
                <a:ea typeface="Arial"/>
                <a:cs typeface="Arial"/>
              </a:rPr>
              <a:t>für Ihre Ordination.</a:t>
            </a:r>
          </a:p>
        </p:txBody>
      </p:sp>
      <p:sp>
        <p:nvSpPr>
          <p:cNvPr id="2" name="">
            <a:extLst xmlns:a="http://schemas.openxmlformats.org/drawingml/2006/main">
              <a:ext uri="{FF2B5EF4-FFF2-40B4-BE49-F238E27FC236}">
                <a16:creationId xmlns:a16="http://schemas.microsoft.com/office/drawing/2014/main" id="{45741E46-22D0-4FB2-91C9-9C4B9EA6487E}"/>
              </a:ext>
            </a:extLst>
          </p:cNvPr>
          <p:cNvSpPr>
            <a:spLocks xmlns:a="http://schemas.openxmlformats.org/drawingml/2006/main" noGrp="1"/>
          </p:cNvSpPr>
          <p:nvPr/>
        </p:nvSpPr>
        <p:spPr>
          <a:xfrm xmlns:a="http://schemas.openxmlformats.org/drawingml/2006/main">
            <a:off x="762000" y="3381375"/>
            <a:ext cx="10668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F6F1E8"/>
                </a:solidFill>
                <a:latin typeface="Arial"/>
                <a:ea typeface="Arial"/>
                <a:cs typeface="Arial"/>
              </a:defRPr>
            </a:pPr>
            <a:r>
              <a:rPr sz="2250" b="0">
                <a:solidFill>
                  <a:srgbClr val="F6F1E8"/>
                </a:solidFill>
                <a:latin typeface="Arial"/>
                <a:ea typeface="Arial"/>
                <a:cs typeface="Arial"/>
              </a:rPr>
              <a:t>Die digitale Empfangsassistentin für Tierordinationen in Österreich.</a:t>
            </a:r>
          </a:p>
        </p:txBody>
      </p:sp>
      <p:sp>
        <p:nvSpPr>
          <p:cNvPr id="3" name="">
            <a:extLst xmlns:a="http://schemas.openxmlformats.org/drawingml/2006/main">
              <a:ext uri="{FF2B5EF4-FFF2-40B4-BE49-F238E27FC236}">
                <a16:creationId xmlns:a16="http://schemas.microsoft.com/office/drawing/2014/main" id="{D51263FD-E936-4413-9613-EE7136EF3A43}"/>
              </a:ext>
            </a:extLst>
          </p:cNvPr>
          <p:cNvSpPr>
            <a:spLocks xmlns:a="http://schemas.openxmlformats.org/drawingml/2006/main" noGrp="1"/>
          </p:cNvSpPr>
          <p:nvPr/>
        </p:nvSpPr>
        <p:spPr>
          <a:xfrm xmlns:a="http://schemas.openxmlformats.org/drawingml/2006/main">
            <a:off x="762000" y="57912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7E2DA"/>
                </a:solidFill>
                <a:latin typeface="Arial"/>
                <a:ea typeface="Arial"/>
                <a:cs typeface="Arial"/>
              </a:defRPr>
            </a:pPr>
            <a:r>
              <a:rPr sz="1725" b="0">
                <a:solidFill>
                  <a:srgbClr val="D7E2DA"/>
                </a:solidFill>
                <a:latin typeface="Arial"/>
                <a:ea typeface="Arial"/>
                <a:cs typeface="Arial"/>
              </a:rPr>
              <a:t>Produktvorstellung · Entwicklungsstand 14. September 2026</a:t>
            </a:r>
          </a:p>
        </p:txBody>
      </p:sp>
    </p:spTree>
    <p:extLst>
      <p:ext uri="{BB962C8B-B14F-4D97-AF65-F5344CB8AC3E}">
        <p14:creationId xmlns:p14="http://schemas.microsoft.com/office/powerpoint/2010/main" val="1391296432"/>
      </p:ext>
    </p:extLst>
  </p:cSld>
</p:sld>
</file>

<file path=ppt/slides/slide2.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99450CF-CA4D-4D97-90FA-F111F5C4565F}"/>
              </a:ext>
            </a:extLst>
          </p:cNvPr>
          <p:cNvSpPr>
            <a:spLocks xmlns:a="http://schemas.openxmlformats.org/drawingml/2006/main" noGrp="1"/>
          </p:cNvSpPr>
          <p:nvPr/>
        </p:nvSpPr>
        <p:spPr>
          <a:xfrm xmlns:a="http://schemas.openxmlformats.org/drawingml/2006/main">
            <a:off x="762000" y="619125"/>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F4A3A"/>
                </a:solidFill>
                <a:latin typeface="Arial"/>
                <a:ea typeface="Arial"/>
                <a:cs typeface="Arial"/>
              </a:defRPr>
            </a:pPr>
            <a:r>
              <a:rPr sz="3600" b="1">
                <a:solidFill>
                  <a:srgbClr val="1F4A3A"/>
                </a:solidFill>
                <a:latin typeface="Arial"/>
                <a:ea typeface="Arial"/>
                <a:cs typeface="Arial"/>
              </a:rPr>
              <a:t>Mehr Aufmerksamkeit</a:t>
            </a:r>
          </a:p>
          <a:p xmlns:a="http://schemas.openxmlformats.org/drawingml/2006/main">
            <a:pPr>
              <a:buNone/>
              <a:defRPr sz="3600" b="1">
                <a:solidFill>
                  <a:srgbClr val="1F4A3A"/>
                </a:solidFill>
                <a:latin typeface="Arial"/>
                <a:ea typeface="Arial"/>
                <a:cs typeface="Arial"/>
              </a:defRPr>
            </a:pPr>
            <a:r>
              <a:rPr sz="3600" b="1">
                <a:solidFill>
                  <a:srgbClr val="1F4A3A"/>
                </a:solidFill>
                <a:latin typeface="Arial"/>
                <a:ea typeface="Arial"/>
                <a:cs typeface="Arial"/>
              </a:rPr>
              <a:t>für Mensch und Tier.</a:t>
            </a:r>
          </a:p>
        </p:txBody>
      </p:sp>
      <p:sp>
        <p:nvSpPr>
          <p:cNvPr id="2" name="">
            <a:extLst xmlns:a="http://schemas.openxmlformats.org/drawingml/2006/main">
              <a:ext uri="{FF2B5EF4-FFF2-40B4-BE49-F238E27FC236}">
                <a16:creationId xmlns:a16="http://schemas.microsoft.com/office/drawing/2014/main" id="{723A4247-0ECD-427C-B793-0DA0F62A3132}"/>
              </a:ext>
            </a:extLst>
          </p:cNvPr>
          <p:cNvSpPr>
            <a:spLocks xmlns:a="http://schemas.openxmlformats.org/drawingml/2006/main" noGrp="1"/>
          </p:cNvSpPr>
          <p:nvPr/>
        </p:nvSpPr>
        <p:spPr>
          <a:xfrm xmlns:a="http://schemas.openxmlformats.org/drawingml/2006/main">
            <a:off x="762000" y="2428875"/>
            <a:ext cx="10668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4A3A"/>
                </a:solidFill>
                <a:latin typeface="Arial"/>
                <a:ea typeface="Arial"/>
                <a:cs typeface="Arial"/>
              </a:defRPr>
            </a:pPr>
            <a:r>
              <a:rPr sz="2250" b="0">
                <a:solidFill>
                  <a:srgbClr val="1F4A3A"/>
                </a:solidFill>
                <a:latin typeface="Arial"/>
                <a:ea typeface="Arial"/>
                <a:cs typeface="Arial"/>
              </a:rPr>
              <a:t>Während das Team vor Ort hilft, soll Silvia telefonische Anliegen freundlich aufnehmen und den nächsten Schritt vorbereiten.</a:t>
            </a:r>
          </a:p>
        </p:txBody>
      </p:sp>
      <p:sp>
        <p:nvSpPr>
          <p:cNvPr id="3" name="">
            <a:extLst xmlns:a="http://schemas.openxmlformats.org/drawingml/2006/main">
              <a:ext uri="{FF2B5EF4-FFF2-40B4-BE49-F238E27FC236}">
                <a16:creationId xmlns:a16="http://schemas.microsoft.com/office/drawing/2014/main" id="{F9D6CD8C-1D94-4B42-825A-FDBB6ED85837}"/>
              </a:ext>
            </a:extLst>
          </p:cNvPr>
          <p:cNvSpPr>
            <a:spLocks xmlns:a="http://schemas.openxmlformats.org/drawingml/2006/main" noGrp="1"/>
          </p:cNvSpPr>
          <p:nvPr/>
        </p:nvSpPr>
        <p:spPr>
          <a:xfrm xmlns:a="http://schemas.openxmlformats.org/drawingml/2006/main">
            <a:off x="762000" y="57912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C645E"/>
                </a:solidFill>
                <a:latin typeface="Arial"/>
                <a:ea typeface="Arial"/>
                <a:cs typeface="Arial"/>
              </a:defRPr>
            </a:pPr>
            <a:r>
              <a:rPr sz="1725" b="0">
                <a:solidFill>
                  <a:srgbClr val="5C645E"/>
                </a:solidFill>
                <a:latin typeface="Arial"/>
                <a:ea typeface="Arial"/>
                <a:cs typeface="Arial"/>
              </a:rPr>
              <a:t>Unser Ziel: den Empfang entlasten. Die tatsächliche Entlastung wird im Pilotbetrieb gemessen.</a:t>
            </a:r>
          </a:p>
        </p:txBody>
      </p:sp>
    </p:spTree>
    <p:extLst>
      <p:ext uri="{BB962C8B-B14F-4D97-AF65-F5344CB8AC3E}">
        <p14:creationId xmlns:p14="http://schemas.microsoft.com/office/powerpoint/2010/main" val="1027246512"/>
      </p:ext>
    </p:extLst>
  </p:cSld>
</p:sld>
</file>

<file path=ppt/slides/slide3.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5504155-F819-47A9-96B5-222DCFB311FD}"/>
              </a:ext>
            </a:extLst>
          </p:cNvPr>
          <p:cNvSpPr>
            <a:spLocks xmlns:a="http://schemas.openxmlformats.org/drawingml/2006/main" noGrp="1"/>
          </p:cNvSpPr>
          <p:nvPr/>
        </p:nvSpPr>
        <p:spPr>
          <a:xfrm xmlns:a="http://schemas.openxmlformats.org/drawingml/2006/main">
            <a:off x="762000" y="619125"/>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F4A3A"/>
                </a:solidFill>
                <a:latin typeface="Arial"/>
                <a:ea typeface="Arial"/>
                <a:cs typeface="Arial"/>
              </a:defRPr>
            </a:pPr>
            <a:r>
              <a:rPr sz="3600" b="1">
                <a:solidFill>
                  <a:srgbClr val="1F4A3A"/>
                </a:solidFill>
                <a:latin typeface="Arial"/>
                <a:ea typeface="Arial"/>
                <a:cs typeface="Arial"/>
              </a:rPr>
              <a:t>Ihre Ordination gibt den Ton an.</a:t>
            </a:r>
          </a:p>
        </p:txBody>
      </p:sp>
      <p:sp>
        <p:nvSpPr>
          <p:cNvPr id="2" name="">
            <a:extLst xmlns:a="http://schemas.openxmlformats.org/drawingml/2006/main">
              <a:ext uri="{FF2B5EF4-FFF2-40B4-BE49-F238E27FC236}">
                <a16:creationId xmlns:a16="http://schemas.microsoft.com/office/drawing/2014/main" id="{CE79EEBA-E75E-4ED2-BBD3-E7B7106E1825}"/>
              </a:ext>
            </a:extLst>
          </p:cNvPr>
          <p:cNvSpPr>
            <a:spLocks xmlns:a="http://schemas.openxmlformats.org/drawingml/2006/main" noGrp="1"/>
          </p:cNvSpPr>
          <p:nvPr/>
        </p:nvSpPr>
        <p:spPr>
          <a:xfrm xmlns:a="http://schemas.openxmlformats.org/drawingml/2006/main">
            <a:off x="762000" y="2428875"/>
            <a:ext cx="10668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4A3A"/>
                </a:solidFill>
                <a:latin typeface="Arial"/>
                <a:ea typeface="Arial"/>
                <a:cs typeface="Arial"/>
              </a:defRPr>
            </a:pPr>
            <a:r>
              <a:rPr sz="2250" b="0">
                <a:solidFill>
                  <a:srgbClr val="1F4A3A"/>
                </a:solidFill>
                <a:latin typeface="Arial"/>
                <a:ea typeface="Arial"/>
                <a:cs typeface="Arial"/>
              </a:rPr>
              <a:t>Begrüßung, Öffnungszeiten und Hinweise aus dem Praxisalltag bilden die Grundlage für Silvias Antworten.</a:t>
            </a:r>
          </a:p>
        </p:txBody>
      </p:sp>
      <p:sp>
        <p:nvSpPr>
          <p:cNvPr id="3" name="">
            <a:extLst xmlns:a="http://schemas.openxmlformats.org/drawingml/2006/main">
              <a:ext uri="{FF2B5EF4-FFF2-40B4-BE49-F238E27FC236}">
                <a16:creationId xmlns:a16="http://schemas.microsoft.com/office/drawing/2014/main" id="{D9C8E35C-C25E-4BB4-A6C4-9DDFE4921D9B}"/>
              </a:ext>
            </a:extLst>
          </p:cNvPr>
          <p:cNvSpPr>
            <a:spLocks xmlns:a="http://schemas.openxmlformats.org/drawingml/2006/main" noGrp="1"/>
          </p:cNvSpPr>
          <p:nvPr/>
        </p:nvSpPr>
        <p:spPr>
          <a:xfrm xmlns:a="http://schemas.openxmlformats.org/drawingml/2006/main">
            <a:off x="762000" y="40957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F4A3A"/>
                </a:solidFill>
                <a:latin typeface="Arial"/>
                <a:ea typeface="Arial"/>
                <a:cs typeface="Arial"/>
              </a:defRPr>
            </a:pPr>
            <a:r>
              <a:rPr sz="2175" b="0">
                <a:solidFill>
                  <a:srgbClr val="1F4A3A"/>
                </a:solidFill>
                <a:latin typeface="Arial"/>
                <a:ea typeface="Arial"/>
                <a:cs typeface="Arial"/>
              </a:rPr>
              <a:t>Warm, weiblich klingend und österreichisch. Herzlich, sympathisch und mit einem kleinen Lächeln in der Stimme.</a:t>
            </a:r>
          </a:p>
        </p:txBody>
      </p:sp>
      <p:sp>
        <p:nvSpPr>
          <p:cNvPr id="4" name="">
            <a:extLst xmlns:a="http://schemas.openxmlformats.org/drawingml/2006/main">
              <a:ext uri="{FF2B5EF4-FFF2-40B4-BE49-F238E27FC236}">
                <a16:creationId xmlns:a16="http://schemas.microsoft.com/office/drawing/2014/main" id="{F5655C26-113C-4999-B0CD-AF60FB22F791}"/>
              </a:ext>
            </a:extLst>
          </p:cNvPr>
          <p:cNvSpPr>
            <a:spLocks xmlns:a="http://schemas.openxmlformats.org/drawingml/2006/main" noGrp="1"/>
          </p:cNvSpPr>
          <p:nvPr/>
        </p:nvSpPr>
        <p:spPr>
          <a:xfrm xmlns:a="http://schemas.openxmlformats.org/drawingml/2006/main">
            <a:off x="762000" y="57912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C645E"/>
                </a:solidFill>
                <a:latin typeface="Arial"/>
                <a:ea typeface="Arial"/>
                <a:cs typeface="Arial"/>
              </a:defRPr>
            </a:pPr>
            <a:r>
              <a:rPr sz="1725" b="0">
                <a:solidFill>
                  <a:srgbClr val="5C645E"/>
                </a:solidFill>
                <a:latin typeface="Arial"/>
                <a:ea typeface="Arial"/>
                <a:cs typeface="Arial"/>
              </a:rPr>
              <a:t>Ton und Verhalten: Speichern und Rollenbeschränkung lokal geprüft. Stimmabnahme offen.</a:t>
            </a:r>
          </a:p>
        </p:txBody>
      </p:sp>
    </p:spTree>
    <p:extLst>
      <p:ext uri="{BB962C8B-B14F-4D97-AF65-F5344CB8AC3E}">
        <p14:creationId xmlns:p14="http://schemas.microsoft.com/office/powerpoint/2010/main" val="1562718565"/>
      </p:ext>
    </p:extLst>
  </p:cSld>
</p:sld>
</file>

<file path=ppt/slides/slide4.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DCA46AD-EC80-4B9C-BA5A-CE64F7AF6B8C}"/>
              </a:ext>
            </a:extLst>
          </p:cNvPr>
          <p:cNvSpPr>
            <a:spLocks xmlns:a="http://schemas.openxmlformats.org/drawingml/2006/main" noGrp="1"/>
          </p:cNvSpPr>
          <p:nvPr/>
        </p:nvSpPr>
        <p:spPr>
          <a:xfrm xmlns:a="http://schemas.openxmlformats.org/drawingml/2006/main">
            <a:off x="762000" y="619125"/>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F4A3A"/>
                </a:solidFill>
                <a:latin typeface="Arial"/>
                <a:ea typeface="Arial"/>
                <a:cs typeface="Arial"/>
              </a:defRPr>
            </a:pPr>
            <a:r>
              <a:rPr sz="3600" b="1">
                <a:solidFill>
                  <a:srgbClr val="1F4A3A"/>
                </a:solidFill>
                <a:latin typeface="Arial"/>
                <a:ea typeface="Arial"/>
                <a:cs typeface="Arial"/>
              </a:rPr>
              <a:t>Zwei Varianten. Ein Anspruch.</a:t>
            </a:r>
          </a:p>
        </p:txBody>
      </p:sp>
      <p:sp>
        <p:nvSpPr>
          <p:cNvPr id="2" name="">
            <a:extLst xmlns:a="http://schemas.openxmlformats.org/drawingml/2006/main">
              <a:ext uri="{FF2B5EF4-FFF2-40B4-BE49-F238E27FC236}">
                <a16:creationId xmlns:a16="http://schemas.microsoft.com/office/drawing/2014/main" id="{63C7C792-5E62-4795-BF64-4EF966DC5459}"/>
              </a:ext>
            </a:extLst>
          </p:cNvPr>
          <p:cNvSpPr>
            <a:spLocks xmlns:a="http://schemas.openxmlformats.org/drawingml/2006/main" noGrp="1"/>
          </p:cNvSpPr>
          <p:nvPr/>
        </p:nvSpPr>
        <p:spPr>
          <a:xfrm xmlns:a="http://schemas.openxmlformats.org/drawingml/2006/main">
            <a:off x="762000" y="2428875"/>
            <a:ext cx="10668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4A3A"/>
                </a:solidFill>
                <a:latin typeface="Arial"/>
                <a:ea typeface="Arial"/>
                <a:cs typeface="Arial"/>
              </a:defRPr>
            </a:pPr>
            <a:r>
              <a:rPr sz="2250" b="0">
                <a:solidFill>
                  <a:srgbClr val="1F4A3A"/>
                </a:solidFill>
                <a:latin typeface="Arial"/>
                <a:ea typeface="Arial"/>
                <a:cs typeface="Arial"/>
              </a:rPr>
              <a:t>Silvia Premium</a:t>
            </a:r>
          </a:p>
          <a:p xmlns:a="http://schemas.openxmlformats.org/drawingml/2006/main">
            <a:pPr>
              <a:buNone/>
              <a:defRPr sz="2250" b="0">
                <a:solidFill>
                  <a:srgbClr val="1F4A3A"/>
                </a:solidFill>
                <a:latin typeface="Arial"/>
                <a:ea typeface="Arial"/>
                <a:cs typeface="Arial"/>
              </a:defRPr>
            </a:pPr>
            <a:r>
              <a:rPr sz="2250" b="0">
                <a:solidFill>
                  <a:srgbClr val="1F4A3A"/>
                </a:solidFill>
                <a:latin typeface="Arial"/>
                <a:ea typeface="Arial"/>
                <a:cs typeface="Arial"/>
              </a:rPr>
              <a:t>Lokale Gesprächskette in Abnahme.</a:t>
            </a:r>
          </a:p>
        </p:txBody>
      </p:sp>
      <p:sp>
        <p:nvSpPr>
          <p:cNvPr id="3" name="">
            <a:extLst xmlns:a="http://schemas.openxmlformats.org/drawingml/2006/main">
              <a:ext uri="{FF2B5EF4-FFF2-40B4-BE49-F238E27FC236}">
                <a16:creationId xmlns:a16="http://schemas.microsoft.com/office/drawing/2014/main" id="{5B018123-ECEE-45EC-8FFF-2B887625F3F9}"/>
              </a:ext>
            </a:extLst>
          </p:cNvPr>
          <p:cNvSpPr>
            <a:spLocks xmlns:a="http://schemas.openxmlformats.org/drawingml/2006/main" noGrp="1"/>
          </p:cNvSpPr>
          <p:nvPr/>
        </p:nvSpPr>
        <p:spPr>
          <a:xfrm xmlns:a="http://schemas.openxmlformats.org/drawingml/2006/main">
            <a:off x="762000" y="40957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F4A3A"/>
                </a:solidFill>
                <a:latin typeface="Arial"/>
                <a:ea typeface="Arial"/>
                <a:cs typeface="Arial"/>
              </a:defRPr>
            </a:pPr>
            <a:r>
              <a:rPr sz="2175" b="0">
                <a:solidFill>
                  <a:srgbClr val="1F4A3A"/>
                </a:solidFill>
                <a:latin typeface="Arial"/>
                <a:ea typeface="Arial"/>
                <a:cs typeface="Arial"/>
              </a:rPr>
              <a:t>Silvia Live</a:t>
            </a:r>
          </a:p>
          <a:p xmlns:a="http://schemas.openxmlformats.org/drawingml/2006/main">
            <a:pPr>
              <a:buNone/>
              <a:defRPr sz="2175" b="0">
                <a:solidFill>
                  <a:srgbClr val="1F4A3A"/>
                </a:solidFill>
                <a:latin typeface="Arial"/>
                <a:ea typeface="Arial"/>
                <a:cs typeface="Arial"/>
              </a:defRPr>
            </a:pPr>
            <a:r>
              <a:rPr sz="2175" b="0">
                <a:solidFill>
                  <a:srgbClr val="1F4A3A"/>
                </a:solidFill>
                <a:latin typeface="Arial"/>
                <a:ea typeface="Arial"/>
                <a:cs typeface="Arial"/>
              </a:rPr>
              <a:t>Getrennte Live-Demo mit erfundenen Inhalten vorbereitet, derzeit deaktiviert.</a:t>
            </a:r>
          </a:p>
        </p:txBody>
      </p:sp>
      <p:sp>
        <p:nvSpPr>
          <p:cNvPr id="4" name="">
            <a:extLst xmlns:a="http://schemas.openxmlformats.org/drawingml/2006/main">
              <a:ext uri="{FF2B5EF4-FFF2-40B4-BE49-F238E27FC236}">
                <a16:creationId xmlns:a16="http://schemas.microsoft.com/office/drawing/2014/main" id="{B3B5958C-6502-4829-ABE9-1EF158F78243}"/>
              </a:ext>
            </a:extLst>
          </p:cNvPr>
          <p:cNvSpPr>
            <a:spLocks xmlns:a="http://schemas.openxmlformats.org/drawingml/2006/main" noGrp="1"/>
          </p:cNvSpPr>
          <p:nvPr/>
        </p:nvSpPr>
        <p:spPr>
          <a:xfrm xmlns:a="http://schemas.openxmlformats.org/drawingml/2006/main">
            <a:off x="762000" y="57912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C645E"/>
                </a:solidFill>
                <a:latin typeface="Arial"/>
                <a:ea typeface="Arial"/>
                <a:cs typeface="Arial"/>
              </a:defRPr>
            </a:pPr>
            <a:r>
              <a:rPr sz="1725" b="0">
                <a:solidFill>
                  <a:srgbClr val="5C645E"/>
                </a:solidFill>
                <a:latin typeface="Arial"/>
                <a:ea typeface="Arial"/>
                <a:cs typeface="Arial"/>
              </a:rPr>
              <a:t>Premium: zwölf isolierte Homepage-Prüfungen grün. Stimme und Telefonbetrieb bleiben in Abnahme.</a:t>
            </a:r>
          </a:p>
        </p:txBody>
      </p:sp>
    </p:spTree>
    <p:extLst>
      <p:ext uri="{BB962C8B-B14F-4D97-AF65-F5344CB8AC3E}">
        <p14:creationId xmlns:p14="http://schemas.microsoft.com/office/powerpoint/2010/main" val="749471897"/>
      </p:ext>
    </p:extLst>
  </p:cSld>
</p:sld>
</file>

<file path=ppt/slides/slide5.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DCD828-618C-4CDA-90FD-DC0CA15C577F}"/>
              </a:ext>
            </a:extLst>
          </p:cNvPr>
          <p:cNvSpPr>
            <a:spLocks xmlns:a="http://schemas.openxmlformats.org/drawingml/2006/main" noGrp="1"/>
          </p:cNvSpPr>
          <p:nvPr/>
        </p:nvSpPr>
        <p:spPr>
          <a:xfrm xmlns:a="http://schemas.openxmlformats.org/drawingml/2006/main">
            <a:off x="762000" y="619125"/>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F4A3A"/>
                </a:solidFill>
                <a:latin typeface="Arial"/>
                <a:ea typeface="Arial"/>
                <a:cs typeface="Arial"/>
              </a:defRPr>
            </a:pPr>
            <a:r>
              <a:rPr sz="3600" b="1">
                <a:solidFill>
                  <a:srgbClr val="1F4A3A"/>
                </a:solidFill>
                <a:latin typeface="Arial"/>
                <a:ea typeface="Arial"/>
                <a:cs typeface="Arial"/>
              </a:rPr>
              <a:t>Vertrauen beginnt</a:t>
            </a:r>
          </a:p>
          <a:p xmlns:a="http://schemas.openxmlformats.org/drawingml/2006/main">
            <a:pPr>
              <a:buNone/>
              <a:defRPr sz="3600" b="1">
                <a:solidFill>
                  <a:srgbClr val="1F4A3A"/>
                </a:solidFill>
                <a:latin typeface="Arial"/>
                <a:ea typeface="Arial"/>
                <a:cs typeface="Arial"/>
              </a:defRPr>
            </a:pPr>
            <a:r>
              <a:rPr sz="3600" b="1">
                <a:solidFill>
                  <a:srgbClr val="1F4A3A"/>
                </a:solidFill>
                <a:latin typeface="Arial"/>
                <a:ea typeface="Arial"/>
                <a:cs typeface="Arial"/>
              </a:rPr>
              <a:t>mit klaren Grenzen.</a:t>
            </a:r>
          </a:p>
        </p:txBody>
      </p:sp>
      <p:sp>
        <p:nvSpPr>
          <p:cNvPr id="2" name="">
            <a:extLst xmlns:a="http://schemas.openxmlformats.org/drawingml/2006/main">
              <a:ext uri="{FF2B5EF4-FFF2-40B4-BE49-F238E27FC236}">
                <a16:creationId xmlns:a16="http://schemas.microsoft.com/office/drawing/2014/main" id="{4C927412-2F97-40F0-B0D2-7211D09EA7EA}"/>
              </a:ext>
            </a:extLst>
          </p:cNvPr>
          <p:cNvSpPr>
            <a:spLocks xmlns:a="http://schemas.openxmlformats.org/drawingml/2006/main" noGrp="1"/>
          </p:cNvSpPr>
          <p:nvPr/>
        </p:nvSpPr>
        <p:spPr>
          <a:xfrm xmlns:a="http://schemas.openxmlformats.org/drawingml/2006/main">
            <a:off x="762000" y="2428875"/>
            <a:ext cx="10668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4A3A"/>
                </a:solidFill>
                <a:latin typeface="Arial"/>
                <a:ea typeface="Arial"/>
                <a:cs typeface="Arial"/>
              </a:defRPr>
            </a:pPr>
            <a:r>
              <a:rPr sz="2250" b="0">
                <a:solidFill>
                  <a:srgbClr val="1F4A3A"/>
                </a:solidFill>
                <a:latin typeface="Arial"/>
                <a:ea typeface="Arial"/>
                <a:cs typeface="Arial"/>
              </a:rPr>
              <a:t>Verbindliche Vorgabe: Echte Praxisdaten dürfen niemals an externe KI-Dienste gelangen.</a:t>
            </a:r>
          </a:p>
        </p:txBody>
      </p:sp>
      <p:sp>
        <p:nvSpPr>
          <p:cNvPr id="3" name="">
            <a:extLst xmlns:a="http://schemas.openxmlformats.org/drawingml/2006/main">
              <a:ext uri="{FF2B5EF4-FFF2-40B4-BE49-F238E27FC236}">
                <a16:creationId xmlns:a16="http://schemas.microsoft.com/office/drawing/2014/main" id="{BA8C661A-17D8-45EB-9577-B10A8ADE868A}"/>
              </a:ext>
            </a:extLst>
          </p:cNvPr>
          <p:cNvSpPr>
            <a:spLocks xmlns:a="http://schemas.openxmlformats.org/drawingml/2006/main" noGrp="1"/>
          </p:cNvSpPr>
          <p:nvPr/>
        </p:nvSpPr>
        <p:spPr>
          <a:xfrm xmlns:a="http://schemas.openxmlformats.org/drawingml/2006/main">
            <a:off x="762000" y="40957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F4A3A"/>
                </a:solidFill>
                <a:latin typeface="Arial"/>
                <a:ea typeface="Arial"/>
                <a:cs typeface="Arial"/>
              </a:defRPr>
            </a:pPr>
            <a:r>
              <a:rPr sz="2175" b="0">
                <a:solidFill>
                  <a:srgbClr val="1F4A3A"/>
                </a:solidFill>
                <a:latin typeface="Arial"/>
                <a:ea typeface="Arial"/>
                <a:cs typeface="Arial"/>
              </a:rPr>
              <a:t>Die normale Silvia-Gesprächskette läuft standardmäßig lokal. Externe Chat-, STT- und TTS-Ziele sind technisch blockiert.</a:t>
            </a:r>
          </a:p>
        </p:txBody>
      </p:sp>
      <p:sp>
        <p:nvSpPr>
          <p:cNvPr id="4" name="">
            <a:extLst xmlns:a="http://schemas.openxmlformats.org/drawingml/2006/main">
              <a:ext uri="{FF2B5EF4-FFF2-40B4-BE49-F238E27FC236}">
                <a16:creationId xmlns:a16="http://schemas.microsoft.com/office/drawing/2014/main" id="{9E2B3882-E6BD-4AC1-AD0C-61FE1765CBFA}"/>
              </a:ext>
            </a:extLst>
          </p:cNvPr>
          <p:cNvSpPr>
            <a:spLocks xmlns:a="http://schemas.openxmlformats.org/drawingml/2006/main" noGrp="1"/>
          </p:cNvSpPr>
          <p:nvPr/>
        </p:nvSpPr>
        <p:spPr>
          <a:xfrm xmlns:a="http://schemas.openxmlformats.org/drawingml/2006/main">
            <a:off x="762000" y="57912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C645E"/>
                </a:solidFill>
                <a:latin typeface="Arial"/>
                <a:ea typeface="Arial"/>
                <a:cs typeface="Arial"/>
              </a:defRPr>
            </a:pPr>
            <a:r>
              <a:rPr sz="1725" b="0">
                <a:solidFill>
                  <a:srgbClr val="5C645E"/>
                </a:solidFill>
                <a:latin typeface="Arial"/>
                <a:ea typeface="Arial"/>
                <a:cs typeface="Arial"/>
              </a:rPr>
              <a:t>Datenfluss, Aufbewahrung und Anbieterbedingungen bleiben vor der Freigabe offen.</a:t>
            </a:r>
          </a:p>
        </p:txBody>
      </p:sp>
    </p:spTree>
    <p:extLst>
      <p:ext uri="{BB962C8B-B14F-4D97-AF65-F5344CB8AC3E}">
        <p14:creationId xmlns:p14="http://schemas.microsoft.com/office/powerpoint/2010/main" val="1853340735"/>
      </p:ext>
    </p:extLst>
  </p:cSld>
</p:sld>
</file>

<file path=ppt/slides/slide6.xml><?xml version="1.0" encoding="utf-8"?>
<p:sld xmlns:p="http://schemas.openxmlformats.org/presentationml/2006/main">
  <p:cSld>
    <p:bg>
      <p:bgPr>
        <a:solidFill xmlns:a="http://schemas.openxmlformats.org/drawingml/2006/main">
          <a:srgbClr val="1F4A3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6EF93C7-9E87-4FA7-BA4B-9F08C2771D54}"/>
              </a:ext>
            </a:extLst>
          </p:cNvPr>
          <p:cNvSpPr>
            <a:spLocks xmlns:a="http://schemas.openxmlformats.org/drawingml/2006/main" noGrp="1"/>
          </p:cNvSpPr>
          <p:nvPr/>
        </p:nvSpPr>
        <p:spPr>
          <a:xfrm xmlns:a="http://schemas.openxmlformats.org/drawingml/2006/main">
            <a:off x="762000" y="619125"/>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F6F1E8"/>
                </a:solidFill>
                <a:latin typeface="Arial"/>
                <a:ea typeface="Arial"/>
                <a:cs typeface="Arial"/>
              </a:defRPr>
            </a:pPr>
            <a:r>
              <a:rPr sz="3600" b="1">
                <a:solidFill>
                  <a:srgbClr val="F6F1E8"/>
                </a:solidFill>
                <a:latin typeface="Arial"/>
                <a:ea typeface="Arial"/>
                <a:cs typeface="Arial"/>
              </a:rPr>
              <a:t>Nächster Schritt: gemeinsame Abnahme</a:t>
            </a:r>
          </a:p>
        </p:txBody>
      </p:sp>
      <p:sp>
        <p:nvSpPr>
          <p:cNvPr id="2" name="">
            <a:extLst xmlns:a="http://schemas.openxmlformats.org/drawingml/2006/main">
              <a:ext uri="{FF2B5EF4-FFF2-40B4-BE49-F238E27FC236}">
                <a16:creationId xmlns:a16="http://schemas.microsoft.com/office/drawing/2014/main" id="{8E846F03-70D4-46DD-BC8C-72F0E22146E0}"/>
              </a:ext>
            </a:extLst>
          </p:cNvPr>
          <p:cNvSpPr>
            <a:spLocks xmlns:a="http://schemas.openxmlformats.org/drawingml/2006/main" noGrp="1"/>
          </p:cNvSpPr>
          <p:nvPr/>
        </p:nvSpPr>
        <p:spPr>
          <a:xfrm xmlns:a="http://schemas.openxmlformats.org/drawingml/2006/main">
            <a:off x="762000" y="2428875"/>
            <a:ext cx="10668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F6F1E8"/>
                </a:solidFill>
                <a:latin typeface="Arial"/>
                <a:ea typeface="Arial"/>
                <a:cs typeface="Arial"/>
              </a:defRPr>
            </a:pPr>
            <a:r>
              <a:rPr sz="2250" b="0">
                <a:solidFill>
                  <a:srgbClr val="F6F1E8"/>
                </a:solidFill>
                <a:latin typeface="Arial"/>
                <a:ea typeface="Arial"/>
                <a:cs typeface="Arial"/>
              </a:rPr>
              <a:t>Wir prüfen mit erfundenen Anliegen Klang, Gesprächsfluss und Reaktion auf Unterbrechen.</a:t>
            </a:r>
          </a:p>
        </p:txBody>
      </p:sp>
      <p:sp>
        <p:nvSpPr>
          <p:cNvPr id="3" name="">
            <a:extLst xmlns:a="http://schemas.openxmlformats.org/drawingml/2006/main">
              <a:ext uri="{FF2B5EF4-FFF2-40B4-BE49-F238E27FC236}">
                <a16:creationId xmlns:a16="http://schemas.microsoft.com/office/drawing/2014/main" id="{B200F0D3-3B93-4B20-9673-8EE6F5C7C118}"/>
              </a:ext>
            </a:extLst>
          </p:cNvPr>
          <p:cNvSpPr>
            <a:spLocks xmlns:a="http://schemas.openxmlformats.org/drawingml/2006/main" noGrp="1"/>
          </p:cNvSpPr>
          <p:nvPr/>
        </p:nvSpPr>
        <p:spPr>
          <a:xfrm xmlns:a="http://schemas.openxmlformats.org/drawingml/2006/main">
            <a:off x="762000" y="40957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F6F1E8"/>
                </a:solidFill>
                <a:latin typeface="Arial"/>
                <a:ea typeface="Arial"/>
                <a:cs typeface="Arial"/>
              </a:defRPr>
            </a:pPr>
            <a:r>
              <a:rPr sz="2175" b="0">
                <a:solidFill>
                  <a:srgbClr val="F6F1E8"/>
                </a:solidFill>
                <a:latin typeface="Arial"/>
                <a:ea typeface="Arial"/>
                <a:cs typeface="Arial"/>
              </a:rPr>
              <a:t>Die getrennte Cloud-Demo bleibt synthetisch und deaktiviert. Ein buchbares Paket ist noch nicht freigegeben.</a:t>
            </a:r>
          </a:p>
        </p:txBody>
      </p:sp>
      <p:sp>
        <p:nvSpPr>
          <p:cNvPr id="4" name="">
            <a:extLst xmlns:a="http://schemas.openxmlformats.org/drawingml/2006/main">
              <a:ext uri="{FF2B5EF4-FFF2-40B4-BE49-F238E27FC236}">
                <a16:creationId xmlns:a16="http://schemas.microsoft.com/office/drawing/2014/main" id="{97E53946-8138-4B68-B3E5-474B787BED12}"/>
              </a:ext>
            </a:extLst>
          </p:cNvPr>
          <p:cNvSpPr>
            <a:spLocks xmlns:a="http://schemas.openxmlformats.org/drawingml/2006/main" noGrp="1"/>
          </p:cNvSpPr>
          <p:nvPr/>
        </p:nvSpPr>
        <p:spPr>
          <a:xfrm xmlns:a="http://schemas.openxmlformats.org/drawingml/2006/main">
            <a:off x="762000" y="57912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7E2DA"/>
                </a:solidFill>
                <a:latin typeface="Arial"/>
                <a:ea typeface="Arial"/>
                <a:cs typeface="Arial"/>
              </a:defRPr>
            </a:pPr>
            <a:r>
              <a:rPr sz="1725" b="0">
                <a:solidFill>
                  <a:srgbClr val="D7E2DA"/>
                </a:solidFill>
                <a:latin typeface="Arial"/>
                <a:ea typeface="Arial"/>
                <a:cs typeface="Arial"/>
              </a:rPr>
              <a:t>Termine ändern wir derzeit manuell auf der Tafel. Der echte Live-Unterbrechungstest steht aus.</a:t>
            </a:r>
          </a:p>
        </p:txBody>
      </p:sp>
    </p:spTree>
    <p:extLst>
      <p:ext uri="{BB962C8B-B14F-4D97-AF65-F5344CB8AC3E}">
        <p14:creationId xmlns:p14="http://schemas.microsoft.com/office/powerpoint/2010/main" val="15577854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2026-09-14T02:59:40.8250000Z</dcterms:created>
  <dcterms:modified xsi:type="dcterms:W3CDTF">2026-09-14T02:59:40.8250000Z</dcterms:modified>
</coreProperties>
</file>